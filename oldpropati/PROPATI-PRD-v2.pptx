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0" y="-1371600"/>
            <a:ext cx="4572000" cy="4572000"/>
          </a:xfrm>
          <a:prstGeom prst="ellipse">
            <a:avLst/>
          </a:prstGeom>
          <a:solidFill>
            <a:srgbClr val="C9952A">
              <a:alpha val="15000"/>
            </a:srgbClr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0" cy="5143500"/>
          </a:xfrm>
          <a:prstGeom prst="line">
            <a:avLst/>
          </a:prstGeom>
          <a:noFill/>
          <a:ln w="3810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05840" y="0"/>
            <a:ext cx="0" cy="5143500"/>
          </a:xfrm>
          <a:prstGeom prst="line">
            <a:avLst/>
          </a:prstGeom>
          <a:noFill/>
          <a:ln w="3810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011680" y="0"/>
            <a:ext cx="0" cy="5143500"/>
          </a:xfrm>
          <a:prstGeom prst="line">
            <a:avLst/>
          </a:prstGeom>
          <a:noFill/>
          <a:ln w="3810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017520" y="0"/>
            <a:ext cx="0" cy="5143500"/>
          </a:xfrm>
          <a:prstGeom prst="line">
            <a:avLst/>
          </a:prstGeom>
          <a:noFill/>
          <a:ln w="3810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023360" y="0"/>
            <a:ext cx="0" cy="5143500"/>
          </a:xfrm>
          <a:prstGeom prst="line">
            <a:avLst/>
          </a:prstGeom>
          <a:noFill/>
          <a:ln w="3810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029200" y="0"/>
            <a:ext cx="0" cy="5143500"/>
          </a:xfrm>
          <a:prstGeom prst="line">
            <a:avLst/>
          </a:prstGeom>
          <a:noFill/>
          <a:ln w="3810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035040" y="0"/>
            <a:ext cx="0" cy="5143500"/>
          </a:xfrm>
          <a:prstGeom prst="line">
            <a:avLst/>
          </a:prstGeom>
          <a:noFill/>
          <a:ln w="3810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040880" y="0"/>
            <a:ext cx="0" cy="5143500"/>
          </a:xfrm>
          <a:prstGeom prst="line">
            <a:avLst/>
          </a:prstGeom>
          <a:noFill/>
          <a:ln w="3810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046720" y="0"/>
            <a:ext cx="0" cy="5143500"/>
          </a:xfrm>
          <a:prstGeom prst="line">
            <a:avLst/>
          </a:prstGeom>
          <a:noFill/>
          <a:ln w="3810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052560" y="0"/>
            <a:ext cx="0" cy="5143500"/>
          </a:xfrm>
          <a:prstGeom prst="line">
            <a:avLst/>
          </a:prstGeom>
          <a:noFill/>
          <a:ln w="3810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02920" y="411480"/>
            <a:ext cx="1463040" cy="347472"/>
          </a:xfrm>
          <a:prstGeom prst="rect">
            <a:avLst>
              <a:gd name="adj" fmla="val 13158"/>
            </a:avLst>
          </a:prstGeom>
          <a:solidFill>
            <a:srgbClr val="C9952A"/>
          </a:solidFill>
          <a:ln w="12700">
            <a:solidFill>
              <a:srgbClr val="C9952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402336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1A1A"/>
                </a:solidFill>
              </a:rPr>
              <a:t>PROPATI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02920" y="8686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F0D9A0"/>
                </a:solidFill>
              </a:rPr>
              <a:t>🇳🇬  Nigeria's Property Platform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02920" y="1325880"/>
            <a:ext cx="640080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5200" b="1" spc="-100" kern="0" dirty="0">
                <a:solidFill>
                  <a:srgbClr val="FFFFFF"/>
                </a:solidFill>
              </a:rPr>
              <a:t>Product Requirements</a:t>
            </a:r>
            <a:endParaRPr lang="en-US" sz="5200" dirty="0"/>
          </a:p>
          <a:p>
            <a:pPr algn="l" indent="0" marL="0">
              <a:buNone/>
            </a:pPr>
            <a:r>
              <a:rPr lang="en-US" sz="5200" b="1" spc="-100" kern="0" dirty="0">
                <a:solidFill>
                  <a:srgbClr val="FFFFFF"/>
                </a:solidFill>
              </a:rPr>
              <a:t>Document</a:t>
            </a:r>
            <a:endParaRPr lang="en-US" sz="5200" dirty="0"/>
          </a:p>
        </p:txBody>
      </p:sp>
      <p:sp>
        <p:nvSpPr>
          <p:cNvPr id="17" name="Shape 15"/>
          <p:cNvSpPr/>
          <p:nvPr/>
        </p:nvSpPr>
        <p:spPr>
          <a:xfrm>
            <a:off x="502920" y="3246120"/>
            <a:ext cx="2560320" cy="45720"/>
          </a:xfrm>
          <a:prstGeom prst="rect">
            <a:avLst/>
          </a:prstGeom>
          <a:solidFill>
            <a:srgbClr val="C9952A"/>
          </a:solidFill>
          <a:ln w="12700">
            <a:solidFill>
              <a:srgbClr val="C9952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2920" y="3383280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9CA3AF"/>
                </a:solidFill>
              </a:rPr>
              <a:t>Marketplace · Property Management · Trust &amp; Verification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02920" y="379476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v1.0  ·  March 2026  ·  Confidential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498080" y="1463040"/>
            <a:ext cx="1417320" cy="822960"/>
          </a:xfrm>
          <a:prstGeom prst="rect">
            <a:avLst/>
          </a:prstGeom>
          <a:solidFill>
            <a:srgbClr val="FFFFFF">
              <a:alpha val="6000"/>
            </a:srgbClr>
          </a:solidFill>
          <a:ln w="1270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498080" y="1517904"/>
            <a:ext cx="1417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0B04A"/>
                </a:solidFill>
              </a:rPr>
              <a:t>4 Roles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7315200" y="1883664"/>
            <a:ext cx="1783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9CA3AF"/>
                </a:solidFill>
              </a:rPr>
              <a:t>Landlord · Tenant · Agent · Admin</a:t>
            </a:r>
            <a:endParaRPr lang="en-US" sz="750" dirty="0"/>
          </a:p>
        </p:txBody>
      </p:sp>
      <p:sp>
        <p:nvSpPr>
          <p:cNvPr id="23" name="Shape 21"/>
          <p:cNvSpPr/>
          <p:nvPr/>
        </p:nvSpPr>
        <p:spPr>
          <a:xfrm>
            <a:off x="7498080" y="2560320"/>
            <a:ext cx="1417320" cy="822960"/>
          </a:xfrm>
          <a:prstGeom prst="rect">
            <a:avLst/>
          </a:prstGeom>
          <a:solidFill>
            <a:srgbClr val="FFFFFF">
              <a:alpha val="6000"/>
            </a:srgbClr>
          </a:solidFill>
          <a:ln w="1270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498080" y="2615184"/>
            <a:ext cx="1417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0B04A"/>
                </a:solidFill>
              </a:rPr>
              <a:t>5 Layers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7315200" y="2980944"/>
            <a:ext cx="1783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9CA3AF"/>
                </a:solidFill>
              </a:rPr>
              <a:t>Trust Verification System</a:t>
            </a:r>
            <a:endParaRPr lang="en-US" sz="750" dirty="0"/>
          </a:p>
        </p:txBody>
      </p:sp>
      <p:sp>
        <p:nvSpPr>
          <p:cNvPr id="26" name="Shape 24"/>
          <p:cNvSpPr/>
          <p:nvPr/>
        </p:nvSpPr>
        <p:spPr>
          <a:xfrm>
            <a:off x="7498080" y="3657600"/>
            <a:ext cx="1417320" cy="822960"/>
          </a:xfrm>
          <a:prstGeom prst="rect">
            <a:avLst/>
          </a:prstGeom>
          <a:solidFill>
            <a:srgbClr val="FFFFFF">
              <a:alpha val="6000"/>
            </a:srgbClr>
          </a:solidFill>
          <a:ln w="1270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498080" y="3712464"/>
            <a:ext cx="1417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0B04A"/>
                </a:solidFill>
              </a:rPr>
              <a:t>6 Modules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7315200" y="4078224"/>
            <a:ext cx="1783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9CA3AF"/>
                </a:solidFill>
              </a:rPr>
              <a:t>Built &amp; Shipped</a:t>
            </a:r>
            <a:endParaRPr lang="en-US" sz="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3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2743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9952A"/>
                </a:solidFill>
              </a:rPr>
              <a:t>PROPATI  ·  PRD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0" y="0"/>
            <a:ext cx="8686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88888"/>
                </a:solidFill>
              </a:rPr>
              <a:t>Executive Summary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86868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A1A1A"/>
                </a:solidFill>
              </a:rPr>
              <a:t>The Problem We're Solving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411480" y="1737360"/>
            <a:ext cx="2651760" cy="2651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9E5D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11480" y="1737360"/>
            <a:ext cx="2651760" cy="64008"/>
          </a:xfrm>
          <a:prstGeom prst="rect">
            <a:avLst/>
          </a:prstGeom>
          <a:solidFill>
            <a:srgbClr val="C9952A"/>
          </a:solidFill>
          <a:ln w="12700">
            <a:solidFill>
              <a:srgbClr val="C995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1828800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🚫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548640" y="237744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1A1A"/>
                </a:solidFill>
              </a:rPr>
              <a:t>No Verification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21208" y="2788920"/>
            <a:ext cx="2432304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374151"/>
                </a:solidFill>
              </a:rPr>
              <a:t>Fake listings and fraudulent landlords cost Nigerians billions yearly. There is no trusted national database of verified properties.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264408" y="1737360"/>
            <a:ext cx="2651760" cy="2651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9E5D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64408" y="1737360"/>
            <a:ext cx="2651760" cy="64008"/>
          </a:xfrm>
          <a:prstGeom prst="rect">
            <a:avLst/>
          </a:prstGeom>
          <a:solidFill>
            <a:srgbClr val="C9952A"/>
          </a:solidFill>
          <a:ln w="12700">
            <a:solidFill>
              <a:srgbClr val="C9952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64408" y="1828800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💸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3401568" y="237744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1A1A"/>
                </a:solidFill>
              </a:rPr>
              <a:t>No Escrow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374136" y="2788920"/>
            <a:ext cx="2432304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374151"/>
                </a:solidFill>
              </a:rPr>
              <a:t>Rent payments are made in cash with no protection. Disputes have no resolution path and tenants lose deposits with no recourse.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117336" y="1737360"/>
            <a:ext cx="2651760" cy="2651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9E5D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117336" y="1737360"/>
            <a:ext cx="2651760" cy="64008"/>
          </a:xfrm>
          <a:prstGeom prst="rect">
            <a:avLst/>
          </a:prstGeom>
          <a:solidFill>
            <a:srgbClr val="C9952A"/>
          </a:solidFill>
          <a:ln w="12700">
            <a:solidFill>
              <a:srgbClr val="C9952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117336" y="1828800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📄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6254496" y="237744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1A1A"/>
                </a:solidFill>
              </a:rPr>
              <a:t>No Digital Records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227064" y="2788920"/>
            <a:ext cx="2432304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374151"/>
                </a:solidFill>
              </a:rPr>
              <a:t>Lease agreements are paper-based, easily disputed, and rarely enforced. There is no standard digital contract for Nigerian rentals.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11480" y="4572000"/>
            <a:ext cx="8321040" cy="411480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11480" y="4572000"/>
            <a:ext cx="8321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E0B04A"/>
                </a:solidFill>
              </a:rPr>
              <a:t>PROPATI solves all three — one platform, five verification layers, full escrow, and digital agreements.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61616"/>
          </a:solidFill>
          <a:ln w="12700">
            <a:solidFill>
              <a:srgbClr val="16161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2743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9952A"/>
                </a:solidFill>
              </a:rPr>
              <a:t>PROPATI  ·  PRD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0" y="0"/>
            <a:ext cx="8686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66666"/>
                </a:solidFill>
              </a:rPr>
              <a:t>Product Overview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7772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Four Roles. One Platform.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57200" y="132588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CA3AF"/>
                </a:solidFill>
              </a:rPr>
              <a:t>Every stakeholder in Nigeria's property market has a dedicated, purpose-built experience.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20040" y="1737360"/>
            <a:ext cx="2011680" cy="3200400"/>
          </a:xfrm>
          <a:prstGeom prst="rect">
            <a:avLst/>
          </a:prstGeom>
          <a:solidFill>
            <a:srgbClr val="1F1F1F"/>
          </a:solidFill>
          <a:ln w="12700">
            <a:solidFill>
              <a:srgbClr val="2A2A2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20040" y="1737360"/>
            <a:ext cx="2011680" cy="64008"/>
          </a:xfrm>
          <a:prstGeom prst="rect">
            <a:avLst/>
          </a:prstGeom>
          <a:solidFill>
            <a:srgbClr val="D4622A"/>
          </a:solidFill>
          <a:ln w="12700">
            <a:solidFill>
              <a:srgbClr val="D4622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05840" y="1874520"/>
            <a:ext cx="640080" cy="640080"/>
          </a:xfrm>
          <a:prstGeom prst="ellipse">
            <a:avLst/>
          </a:prstGeom>
          <a:solidFill>
            <a:srgbClr val="D4622A">
              <a:alpha val="15000"/>
            </a:srgbClr>
          </a:solidFill>
          <a:ln w="12700">
            <a:solidFill>
              <a:srgbClr val="D4622A">
                <a:alpha val="30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05840" y="18745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🏠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320040" y="2578608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D4622A"/>
                </a:solidFill>
              </a:rPr>
              <a:t>Landlord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29768" y="297180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D4622A"/>
                </a:solidFill>
              </a:rPr>
              <a:t>›  </a:t>
            </a:r>
            <a:pPr indent="0" marL="0">
              <a:buNone/>
            </a:pPr>
            <a:r>
              <a:rPr lang="en-US" sz="900" dirty="0">
                <a:solidFill>
                  <a:srgbClr val="CCCCCC"/>
                </a:solidFill>
              </a:rPr>
              <a:t>Add &amp; verify properties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429768" y="3319272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D4622A"/>
                </a:solidFill>
              </a:rPr>
              <a:t>›  </a:t>
            </a:r>
            <a:pPr indent="0" marL="0">
              <a:buNone/>
            </a:pPr>
            <a:r>
              <a:rPr lang="en-US" sz="900" dirty="0">
                <a:solidFill>
                  <a:srgbClr val="CCCCCC"/>
                </a:solidFill>
              </a:rPr>
              <a:t>Collect rent via Escrow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29768" y="3666744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D4622A"/>
                </a:solidFill>
              </a:rPr>
              <a:t>›  </a:t>
            </a:r>
            <a:pPr indent="0" marL="0">
              <a:buNone/>
            </a:pPr>
            <a:r>
              <a:rPr lang="en-US" sz="900" dirty="0">
                <a:solidFill>
                  <a:srgbClr val="CCCCCC"/>
                </a:solidFill>
              </a:rPr>
              <a:t>Screen tenants (video call)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429768" y="4014216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D4622A"/>
                </a:solidFill>
              </a:rPr>
              <a:t>›  </a:t>
            </a:r>
            <a:pPr indent="0" marL="0">
              <a:buNone/>
            </a:pPr>
            <a:r>
              <a:rPr lang="en-US" sz="900" dirty="0">
                <a:solidFill>
                  <a:srgbClr val="CCCCCC"/>
                </a:solidFill>
              </a:rPr>
              <a:t>Digital lease agreements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429768" y="4361688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D4622A"/>
                </a:solidFill>
              </a:rPr>
              <a:t>›  </a:t>
            </a:r>
            <a:pPr indent="0" marL="0">
              <a:buNone/>
            </a:pPr>
            <a:r>
              <a:rPr lang="en-US" sz="900" dirty="0">
                <a:solidFill>
                  <a:srgbClr val="CCCCCC"/>
                </a:solidFill>
              </a:rPr>
              <a:t>5-layer verification wizard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2468880" y="1737360"/>
            <a:ext cx="2011680" cy="3200400"/>
          </a:xfrm>
          <a:prstGeom prst="rect">
            <a:avLst/>
          </a:prstGeom>
          <a:solidFill>
            <a:srgbClr val="1F1F1F"/>
          </a:solidFill>
          <a:ln w="12700">
            <a:solidFill>
              <a:srgbClr val="2A2A2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2468880" y="1737360"/>
            <a:ext cx="2011680" cy="64008"/>
          </a:xfrm>
          <a:prstGeom prst="rect">
            <a:avLst/>
          </a:prstGeom>
          <a:solidFill>
            <a:srgbClr val="0E7C6A"/>
          </a:solidFill>
          <a:ln w="12700">
            <a:solidFill>
              <a:srgbClr val="0E7C6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154680" y="1874520"/>
            <a:ext cx="640080" cy="640080"/>
          </a:xfrm>
          <a:prstGeom prst="ellipse">
            <a:avLst/>
          </a:prstGeom>
          <a:solidFill>
            <a:srgbClr val="0E7C6A">
              <a:alpha val="15000"/>
            </a:srgbClr>
          </a:solidFill>
          <a:ln w="12700">
            <a:solidFill>
              <a:srgbClr val="0E7C6A">
                <a:alpha val="3000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154680" y="18745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👤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2468880" y="2578608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E7C6A"/>
                </a:solidFill>
              </a:rPr>
              <a:t>Tenant / Buyer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2578608" y="297180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0E7C6A"/>
                </a:solidFill>
              </a:rPr>
              <a:t>›  </a:t>
            </a:r>
            <a:pPr indent="0" marL="0">
              <a:buNone/>
            </a:pPr>
            <a:r>
              <a:rPr lang="en-US" sz="900" dirty="0">
                <a:solidFill>
                  <a:srgbClr val="CCCCCC"/>
                </a:solidFill>
              </a:rPr>
              <a:t>Browse verified listings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2578608" y="3319272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0E7C6A"/>
                </a:solidFill>
              </a:rPr>
              <a:t>›  </a:t>
            </a:r>
            <a:pPr indent="0" marL="0">
              <a:buNone/>
            </a:pPr>
            <a:r>
              <a:rPr lang="en-US" sz="900" dirty="0">
                <a:solidFill>
                  <a:srgbClr val="CCCCCC"/>
                </a:solidFill>
              </a:rPr>
              <a:t>Apply &amp; message landlord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2578608" y="3666744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0E7C6A"/>
                </a:solidFill>
              </a:rPr>
              <a:t>›  </a:t>
            </a:r>
            <a:pPr indent="0" marL="0">
              <a:buNone/>
            </a:pPr>
            <a:r>
              <a:rPr lang="en-US" sz="900" dirty="0">
                <a:solidFill>
                  <a:srgbClr val="CCCCCC"/>
                </a:solidFill>
              </a:rPr>
              <a:t>Sign leases digitally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2578608" y="4014216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0E7C6A"/>
                </a:solidFill>
              </a:rPr>
              <a:t>›  </a:t>
            </a:r>
            <a:pPr indent="0" marL="0">
              <a:buNone/>
            </a:pPr>
            <a:r>
              <a:rPr lang="en-US" sz="900" dirty="0">
                <a:solidFill>
                  <a:srgbClr val="CCCCCC"/>
                </a:solidFill>
              </a:rPr>
              <a:t>Pay rent safely (Escrow)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2578608" y="4361688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0E7C6A"/>
                </a:solidFill>
              </a:rPr>
              <a:t>›  </a:t>
            </a:r>
            <a:pPr indent="0" marL="0">
              <a:buNone/>
            </a:pPr>
            <a:r>
              <a:rPr lang="en-US" sz="900" dirty="0">
                <a:solidFill>
                  <a:srgbClr val="CCCCCC"/>
                </a:solidFill>
              </a:rPr>
              <a:t>Mortgage calculator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4617720" y="1737360"/>
            <a:ext cx="2011680" cy="3200400"/>
          </a:xfrm>
          <a:prstGeom prst="rect">
            <a:avLst/>
          </a:prstGeom>
          <a:solidFill>
            <a:srgbClr val="1F1F1F"/>
          </a:solidFill>
          <a:ln w="12700">
            <a:solidFill>
              <a:srgbClr val="2A2A2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4617720" y="1737360"/>
            <a:ext cx="2011680" cy="64008"/>
          </a:xfrm>
          <a:prstGeom prst="rect">
            <a:avLst/>
          </a:prstGeom>
          <a:solidFill>
            <a:srgbClr val="E0B04A"/>
          </a:solidFill>
          <a:ln w="12700">
            <a:solidFill>
              <a:srgbClr val="E0B04A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303520" y="1874520"/>
            <a:ext cx="640080" cy="640080"/>
          </a:xfrm>
          <a:prstGeom prst="ellipse">
            <a:avLst/>
          </a:prstGeom>
          <a:solidFill>
            <a:srgbClr val="E0B04A">
              <a:alpha val="15000"/>
            </a:srgbClr>
          </a:solidFill>
          <a:ln w="12700">
            <a:solidFill>
              <a:srgbClr val="E0B04A">
                <a:alpha val="3000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303520" y="18745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🤝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4617720" y="2578608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0B04A"/>
                </a:solidFill>
              </a:rPr>
              <a:t>Agent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4727448" y="297180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E0B04A"/>
                </a:solidFill>
              </a:rPr>
              <a:t>›  </a:t>
            </a:r>
            <a:pPr indent="0" marL="0">
              <a:buNone/>
            </a:pPr>
            <a:r>
              <a:rPr lang="en-US" sz="900" dirty="0">
                <a:solidFill>
                  <a:srgbClr val="CCCCCC"/>
                </a:solidFill>
              </a:rPr>
              <a:t>Manage client pipeline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4727448" y="3319272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E0B04A"/>
                </a:solidFill>
              </a:rPr>
              <a:t>›  </a:t>
            </a:r>
            <a:pPr indent="0" marL="0">
              <a:buNone/>
            </a:pPr>
            <a:r>
              <a:rPr lang="en-US" sz="900" dirty="0">
                <a:solidFill>
                  <a:srgbClr val="CCCCCC"/>
                </a:solidFill>
              </a:rPr>
              <a:t>List on behalf of landlords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4727448" y="3666744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E0B04A"/>
                </a:solidFill>
              </a:rPr>
              <a:t>›  </a:t>
            </a:r>
            <a:pPr indent="0" marL="0">
              <a:buNone/>
            </a:pPr>
            <a:r>
              <a:rPr lang="en-US" sz="900" dirty="0">
                <a:solidFill>
                  <a:srgbClr val="CCCCCC"/>
                </a:solidFill>
              </a:rPr>
              <a:t>Earn verified commissions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4727448" y="4014216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E0B04A"/>
                </a:solidFill>
              </a:rPr>
              <a:t>›  </a:t>
            </a:r>
            <a:pPr indent="0" marL="0">
              <a:buNone/>
            </a:pPr>
            <a:r>
              <a:rPr lang="en-US" sz="900" dirty="0">
                <a:solidFill>
                  <a:srgbClr val="CCCCCC"/>
                </a:solidFill>
              </a:rPr>
              <a:t>Inspect &amp; report properties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4727448" y="4361688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E0B04A"/>
                </a:solidFill>
              </a:rPr>
              <a:t>›  </a:t>
            </a:r>
            <a:pPr indent="0" marL="0">
              <a:buNone/>
            </a:pPr>
            <a:r>
              <a:rPr lang="en-US" sz="900" dirty="0">
                <a:solidFill>
                  <a:srgbClr val="CCCCCC"/>
                </a:solidFill>
              </a:rPr>
              <a:t>Build reputation profile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6766560" y="1737360"/>
            <a:ext cx="2011680" cy="3200400"/>
          </a:xfrm>
          <a:prstGeom prst="rect">
            <a:avLst/>
          </a:prstGeom>
          <a:solidFill>
            <a:srgbClr val="1F1F1F"/>
          </a:solidFill>
          <a:ln w="12700">
            <a:solidFill>
              <a:srgbClr val="2A2A2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6766560" y="1737360"/>
            <a:ext cx="2011680" cy="64008"/>
          </a:xfrm>
          <a:prstGeom prst="rect">
            <a:avLst/>
          </a:prstGeom>
          <a:solidFill>
            <a:srgbClr val="00D4C8"/>
          </a:solidFill>
          <a:ln w="12700">
            <a:solidFill>
              <a:srgbClr val="00D4C8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7452360" y="1874520"/>
            <a:ext cx="640080" cy="640080"/>
          </a:xfrm>
          <a:prstGeom prst="ellipse">
            <a:avLst/>
          </a:prstGeom>
          <a:solidFill>
            <a:srgbClr val="00D4C8">
              <a:alpha val="15000"/>
            </a:srgbClr>
          </a:solidFill>
          <a:ln w="12700">
            <a:solidFill>
              <a:srgbClr val="00D4C8">
                <a:alpha val="30000"/>
              </a:srgbClr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7452360" y="18745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⚙️</a:t>
            </a:r>
            <a:endParaRPr lang="en-US" sz="1800" dirty="0"/>
          </a:p>
        </p:txBody>
      </p:sp>
      <p:sp>
        <p:nvSpPr>
          <p:cNvPr id="41" name="Text 39"/>
          <p:cNvSpPr/>
          <p:nvPr/>
        </p:nvSpPr>
        <p:spPr>
          <a:xfrm>
            <a:off x="6766560" y="2578608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D4C8"/>
                </a:solidFill>
              </a:rPr>
              <a:t>Admin</a:t>
            </a:r>
            <a:endParaRPr lang="en-US" sz="1300" dirty="0"/>
          </a:p>
        </p:txBody>
      </p:sp>
      <p:sp>
        <p:nvSpPr>
          <p:cNvPr id="42" name="Text 40"/>
          <p:cNvSpPr/>
          <p:nvPr/>
        </p:nvSpPr>
        <p:spPr>
          <a:xfrm>
            <a:off x="6876288" y="297180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00D4C8"/>
                </a:solidFill>
              </a:rPr>
              <a:t>›  </a:t>
            </a:r>
            <a:pPr indent="0" marL="0">
              <a:buNone/>
            </a:pPr>
            <a:r>
              <a:rPr lang="en-US" sz="900" dirty="0">
                <a:solidFill>
                  <a:srgbClr val="CCCCCC"/>
                </a:solidFill>
              </a:rPr>
              <a:t>Approve verifications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6876288" y="3319272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00D4C8"/>
                </a:solidFill>
              </a:rPr>
              <a:t>›  </a:t>
            </a:r>
            <a:pPr indent="0" marL="0">
              <a:buNone/>
            </a:pPr>
            <a:r>
              <a:rPr lang="en-US" sz="900" dirty="0">
                <a:solidFill>
                  <a:srgbClr val="CCCCCC"/>
                </a:solidFill>
              </a:rPr>
              <a:t>Resolve disputes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6876288" y="3666744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00D4C8"/>
                </a:solidFill>
              </a:rPr>
              <a:t>›  </a:t>
            </a:r>
            <a:pPr indent="0" marL="0">
              <a:buNone/>
            </a:pPr>
            <a:r>
              <a:rPr lang="en-US" sz="900" dirty="0">
                <a:solidFill>
                  <a:srgbClr val="CCCCCC"/>
                </a:solidFill>
              </a:rPr>
              <a:t>Monitor platform health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6876288" y="4014216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00D4C8"/>
                </a:solidFill>
              </a:rPr>
              <a:t>›  </a:t>
            </a:r>
            <a:pPr indent="0" marL="0">
              <a:buNone/>
            </a:pPr>
            <a:r>
              <a:rPr lang="en-US" sz="900" dirty="0">
                <a:solidFill>
                  <a:srgbClr val="CCCCCC"/>
                </a:solidFill>
              </a:rPr>
              <a:t>Manage all users &amp; listings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6876288" y="4361688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00D4C8"/>
                </a:solidFill>
              </a:rPr>
              <a:t>›  </a:t>
            </a:r>
            <a:pPr indent="0" marL="0">
              <a:buNone/>
            </a:pPr>
            <a:r>
              <a:rPr lang="en-US" sz="900" dirty="0">
                <a:solidFill>
                  <a:srgbClr val="CCCCCC"/>
                </a:solidFill>
              </a:rPr>
              <a:t>Financial oversight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3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2743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9952A"/>
                </a:solidFill>
              </a:rPr>
              <a:t>PROPATI  ·  PRD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0" y="0"/>
            <a:ext cx="8686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88888"/>
                </a:solidFill>
              </a:rPr>
              <a:t>Module 1 — Marketplace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822960"/>
            <a:ext cx="38404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1A"/>
                </a:solidFill>
              </a:rPr>
              <a:t>Marketplace</a:t>
            </a:r>
            <a:endParaRPr lang="en-US" sz="2600" dirty="0"/>
          </a:p>
          <a:p>
            <a:pPr indent="0" marL="0">
              <a:buNone/>
            </a:pPr>
            <a:r>
              <a:rPr lang="en-US" sz="2600" b="1" dirty="0">
                <a:solidFill>
                  <a:srgbClr val="1A1A1A"/>
                </a:solidFill>
              </a:rPr>
              <a:t>&amp; Discovery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457200" y="1874520"/>
            <a:ext cx="38404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</a:rPr>
              <a:t>Nigeria's first property marketplace with native filtering by listing type, real-time search, and trust-level sorting — all fed from a live Supabase database.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2880360"/>
            <a:ext cx="658368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9E5D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57200" y="2880360"/>
            <a:ext cx="658368" cy="402336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🏠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457200" y="3273552"/>
            <a:ext cx="6583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374151"/>
                </a:solidFill>
              </a:rPr>
              <a:t>Rent</a:t>
            </a:r>
            <a:endParaRPr lang="en-US" sz="750" dirty="0"/>
          </a:p>
        </p:txBody>
      </p:sp>
      <p:sp>
        <p:nvSpPr>
          <p:cNvPr id="10" name="Shape 8"/>
          <p:cNvSpPr/>
          <p:nvPr/>
        </p:nvSpPr>
        <p:spPr>
          <a:xfrm>
            <a:off x="1207008" y="2880360"/>
            <a:ext cx="658368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9E5D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1207008" y="2880360"/>
            <a:ext cx="658368" cy="402336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🏛️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207008" y="3273552"/>
            <a:ext cx="6583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374151"/>
                </a:solidFill>
              </a:rPr>
              <a:t>Buy</a:t>
            </a:r>
            <a:endParaRPr lang="en-US" sz="750" dirty="0"/>
          </a:p>
        </p:txBody>
      </p:sp>
      <p:sp>
        <p:nvSpPr>
          <p:cNvPr id="13" name="Shape 11"/>
          <p:cNvSpPr/>
          <p:nvPr/>
        </p:nvSpPr>
        <p:spPr>
          <a:xfrm>
            <a:off x="1956816" y="2880360"/>
            <a:ext cx="658368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9E5D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1956816" y="2880360"/>
            <a:ext cx="658368" cy="402336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🌴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956816" y="3273552"/>
            <a:ext cx="6583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374151"/>
                </a:solidFill>
              </a:rPr>
              <a:t>Short-let</a:t>
            </a:r>
            <a:endParaRPr lang="en-US" sz="750" dirty="0"/>
          </a:p>
        </p:txBody>
      </p:sp>
      <p:sp>
        <p:nvSpPr>
          <p:cNvPr id="16" name="Shape 14"/>
          <p:cNvSpPr/>
          <p:nvPr/>
        </p:nvSpPr>
        <p:spPr>
          <a:xfrm>
            <a:off x="2706624" y="2880360"/>
            <a:ext cx="658368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9E5D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706624" y="2880360"/>
            <a:ext cx="658368" cy="402336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🤝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2706624" y="3273552"/>
            <a:ext cx="6583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374151"/>
                </a:solidFill>
              </a:rPr>
              <a:t>Share</a:t>
            </a:r>
            <a:endParaRPr lang="en-US" sz="750" dirty="0"/>
          </a:p>
        </p:txBody>
      </p:sp>
      <p:sp>
        <p:nvSpPr>
          <p:cNvPr id="19" name="Shape 17"/>
          <p:cNvSpPr/>
          <p:nvPr/>
        </p:nvSpPr>
        <p:spPr>
          <a:xfrm>
            <a:off x="3456432" y="2880360"/>
            <a:ext cx="658368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9E5D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456432" y="2880360"/>
            <a:ext cx="658368" cy="402336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🏬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3456432" y="3273552"/>
            <a:ext cx="6583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374151"/>
                </a:solidFill>
              </a:rPr>
              <a:t>Commercial</a:t>
            </a:r>
            <a:endParaRPr lang="en-US" sz="750" dirty="0"/>
          </a:p>
        </p:txBody>
      </p:sp>
      <p:sp>
        <p:nvSpPr>
          <p:cNvPr id="22" name="Text 20"/>
          <p:cNvSpPr/>
          <p:nvPr/>
        </p:nvSpPr>
        <p:spPr>
          <a:xfrm>
            <a:off x="457200" y="3639312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C9952A"/>
                </a:solidFill>
              </a:rPr>
              <a:t>Feature Specification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57200" y="3950208"/>
            <a:ext cx="3749040" cy="1188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E7C6A"/>
                </a:solidFill>
              </a:rPr>
              <a:t>✓  </a:t>
            </a:r>
            <a:pPr indent="0" marL="0">
              <a:buNone/>
            </a:pPr>
            <a:r>
              <a:rPr lang="en-US" sz="900" dirty="0">
                <a:solidFill>
                  <a:srgbClr val="374151"/>
                </a:solidFill>
              </a:rPr>
              <a:t>Real-time search by area, type, price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457200" y="4073652"/>
            <a:ext cx="3749040" cy="1188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E7C6A"/>
                </a:solidFill>
              </a:rPr>
              <a:t>✓  </a:t>
            </a:r>
            <a:pPr indent="0" marL="0">
              <a:buNone/>
            </a:pPr>
            <a:r>
              <a:rPr lang="en-US" sz="900" dirty="0">
                <a:solidFill>
                  <a:srgbClr val="374151"/>
                </a:solidFill>
              </a:rPr>
              <a:t>Category filter tabs (All / Rent / Buy / Short-let…)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457200" y="4197096"/>
            <a:ext cx="3749040" cy="1188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E7C6A"/>
                </a:solidFill>
              </a:rPr>
              <a:t>✓  </a:t>
            </a:r>
            <a:pPr indent="0" marL="0">
              <a:buNone/>
            </a:pPr>
            <a:r>
              <a:rPr lang="en-US" sz="900" dirty="0">
                <a:solidFill>
                  <a:srgbClr val="374151"/>
                </a:solidFill>
              </a:rPr>
              <a:t>Sort by: Newest, Price Low-High, Most Verified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457200" y="4320540"/>
            <a:ext cx="3749040" cy="1188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E7C6A"/>
                </a:solidFill>
              </a:rPr>
              <a:t>✓  </a:t>
            </a:r>
            <a:pPr indent="0" marL="0">
              <a:buNone/>
            </a:pPr>
            <a:r>
              <a:rPr lang="en-US" sz="900" dirty="0">
                <a:solidFill>
                  <a:srgbClr val="374151"/>
                </a:solidFill>
              </a:rPr>
              <a:t>Trust badge on every listing (Basic → Certified)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457200" y="4443984"/>
            <a:ext cx="3749040" cy="1188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E7C6A"/>
                </a:solidFill>
              </a:rPr>
              <a:t>✓  </a:t>
            </a:r>
            <a:pPr indent="0" marL="0">
              <a:buNone/>
            </a:pPr>
            <a:r>
              <a:rPr lang="en-US" sz="900" dirty="0">
                <a:solidFill>
                  <a:srgbClr val="374151"/>
                </a:solidFill>
              </a:rPr>
              <a:t>Listing cards with Cloudinary photos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457200" y="4567428"/>
            <a:ext cx="3749040" cy="1188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E7C6A"/>
                </a:solidFill>
              </a:rPr>
              <a:t>✓  </a:t>
            </a:r>
            <a:pPr indent="0" marL="0">
              <a:buNone/>
            </a:pPr>
            <a:r>
              <a:rPr lang="en-US" sz="900" dirty="0">
                <a:solidFill>
                  <a:srgbClr val="374151"/>
                </a:solidFill>
              </a:rPr>
              <a:t>Apply &amp; Message button starts conversation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457200" y="4690872"/>
            <a:ext cx="3749040" cy="1188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E7C6A"/>
                </a:solidFill>
              </a:rPr>
              <a:t>✓  </a:t>
            </a:r>
            <a:pPr indent="0" marL="0">
              <a:buNone/>
            </a:pPr>
            <a:r>
              <a:rPr lang="en-US" sz="900" dirty="0">
                <a:solidFill>
                  <a:srgbClr val="374151"/>
                </a:solidFill>
              </a:rPr>
              <a:t>Browse by area (Lekki, VI, Ikeja, Abuja…)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457200" y="4814316"/>
            <a:ext cx="3749040" cy="1188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E7C6A"/>
                </a:solidFill>
              </a:rPr>
              <a:t>✓  </a:t>
            </a:r>
            <a:pPr indent="0" marL="0">
              <a:buNone/>
            </a:pPr>
            <a:r>
              <a:rPr lang="en-US" sz="900" dirty="0">
                <a:solidFill>
                  <a:srgbClr val="374151"/>
                </a:solidFill>
              </a:rPr>
              <a:t>PROPATI AI assistant sidebar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457200" y="4937760"/>
            <a:ext cx="3749040" cy="1188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E7C6A"/>
                </a:solidFill>
              </a:rPr>
              <a:t>✓  </a:t>
            </a:r>
            <a:pPr indent="0" marL="0">
              <a:buNone/>
            </a:pPr>
            <a:r>
              <a:rPr lang="en-US" sz="900" dirty="0">
                <a:solidFill>
                  <a:srgbClr val="374151"/>
                </a:solidFill>
              </a:rPr>
              <a:t>Empty state CTAs to onboard first landlords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4663440" y="804672"/>
            <a:ext cx="4069080" cy="4206240"/>
          </a:xfrm>
          <a:prstGeom prst="rect">
            <a:avLst/>
          </a:prstGeom>
          <a:solidFill>
            <a:srgbClr val="1A1A1A"/>
          </a:solidFill>
          <a:ln w="12700">
            <a:solidFill>
              <a:srgbClr val="2A2A2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48463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0B04A"/>
                </a:solidFill>
              </a:rPr>
              <a:t>API Endpoints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4754880" y="1280160"/>
            <a:ext cx="3840480" cy="438912"/>
          </a:xfrm>
          <a:prstGeom prst="rect">
            <a:avLst/>
          </a:prstGeom>
          <a:solidFill>
            <a:srgbClr val="252525"/>
          </a:solidFill>
          <a:ln w="12700">
            <a:solidFill>
              <a:srgbClr val="30303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828032" y="1307592"/>
            <a:ext cx="47548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2AAD72"/>
                </a:solidFill>
              </a:rPr>
              <a:t>GET</a:t>
            </a:r>
            <a:endParaRPr lang="en-US" sz="750" dirty="0"/>
          </a:p>
        </p:txBody>
      </p:sp>
      <p:sp>
        <p:nvSpPr>
          <p:cNvPr id="36" name="Text 34"/>
          <p:cNvSpPr/>
          <p:nvPr/>
        </p:nvSpPr>
        <p:spPr>
          <a:xfrm>
            <a:off x="4828032" y="1490472"/>
            <a:ext cx="22860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/api/listings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4828032" y="1307592"/>
            <a:ext cx="3657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66666"/>
                </a:solidFill>
              </a:rPr>
              <a:t>Fetch all listings with filters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4754880" y="1801368"/>
            <a:ext cx="3840480" cy="438912"/>
          </a:xfrm>
          <a:prstGeom prst="rect">
            <a:avLst/>
          </a:prstGeom>
          <a:solidFill>
            <a:srgbClr val="252525"/>
          </a:solidFill>
          <a:ln w="12700">
            <a:solidFill>
              <a:srgbClr val="30303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828032" y="1828800"/>
            <a:ext cx="47548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2AAD72"/>
                </a:solidFill>
              </a:rPr>
              <a:t>GET</a:t>
            </a:r>
            <a:endParaRPr lang="en-US" sz="750" dirty="0"/>
          </a:p>
        </p:txBody>
      </p:sp>
      <p:sp>
        <p:nvSpPr>
          <p:cNvPr id="40" name="Text 38"/>
          <p:cNvSpPr/>
          <p:nvPr/>
        </p:nvSpPr>
        <p:spPr>
          <a:xfrm>
            <a:off x="4828032" y="2011680"/>
            <a:ext cx="22860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/api/listings?listing_type=rent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4828032" y="1828800"/>
            <a:ext cx="3657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66666"/>
                </a:solidFill>
              </a:rPr>
              <a:t>Filter by category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4754880" y="2322576"/>
            <a:ext cx="3840480" cy="438912"/>
          </a:xfrm>
          <a:prstGeom prst="rect">
            <a:avLst/>
          </a:prstGeom>
          <a:solidFill>
            <a:srgbClr val="252525"/>
          </a:solidFill>
          <a:ln w="12700">
            <a:solidFill>
              <a:srgbClr val="30303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828032" y="2350008"/>
            <a:ext cx="47548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E0B04A"/>
                </a:solidFill>
              </a:rPr>
              <a:t>POST</a:t>
            </a:r>
            <a:endParaRPr lang="en-US" sz="750" dirty="0"/>
          </a:p>
        </p:txBody>
      </p:sp>
      <p:sp>
        <p:nvSpPr>
          <p:cNvPr id="44" name="Text 42"/>
          <p:cNvSpPr/>
          <p:nvPr/>
        </p:nvSpPr>
        <p:spPr>
          <a:xfrm>
            <a:off x="4828032" y="2532888"/>
            <a:ext cx="22860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/api/listings</a:t>
            </a:r>
            <a:endParaRPr lang="en-US" sz="800" dirty="0"/>
          </a:p>
        </p:txBody>
      </p:sp>
      <p:sp>
        <p:nvSpPr>
          <p:cNvPr id="45" name="Text 43"/>
          <p:cNvSpPr/>
          <p:nvPr/>
        </p:nvSpPr>
        <p:spPr>
          <a:xfrm>
            <a:off x="4828032" y="2350008"/>
            <a:ext cx="3657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66666"/>
                </a:solidFill>
              </a:rPr>
              <a:t>Create a new listing</a:t>
            </a:r>
            <a:endParaRPr lang="en-US" sz="800" dirty="0"/>
          </a:p>
        </p:txBody>
      </p:sp>
      <p:sp>
        <p:nvSpPr>
          <p:cNvPr id="46" name="Shape 44"/>
          <p:cNvSpPr/>
          <p:nvPr/>
        </p:nvSpPr>
        <p:spPr>
          <a:xfrm>
            <a:off x="4754880" y="2843784"/>
            <a:ext cx="3840480" cy="438912"/>
          </a:xfrm>
          <a:prstGeom prst="rect">
            <a:avLst/>
          </a:prstGeom>
          <a:solidFill>
            <a:srgbClr val="252525"/>
          </a:solidFill>
          <a:ln w="12700">
            <a:solidFill>
              <a:srgbClr val="30303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828032" y="2871216"/>
            <a:ext cx="47548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E0B04A"/>
                </a:solidFill>
              </a:rPr>
              <a:t>POST</a:t>
            </a:r>
            <a:endParaRPr lang="en-US" sz="750" dirty="0"/>
          </a:p>
        </p:txBody>
      </p:sp>
      <p:sp>
        <p:nvSpPr>
          <p:cNvPr id="48" name="Text 46"/>
          <p:cNvSpPr/>
          <p:nvPr/>
        </p:nvSpPr>
        <p:spPr>
          <a:xfrm>
            <a:off x="4828032" y="3054096"/>
            <a:ext cx="22860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/api/listings/upload-image</a:t>
            </a:r>
            <a:endParaRPr lang="en-US" sz="800" dirty="0"/>
          </a:p>
        </p:txBody>
      </p:sp>
      <p:sp>
        <p:nvSpPr>
          <p:cNvPr id="49" name="Text 47"/>
          <p:cNvSpPr/>
          <p:nvPr/>
        </p:nvSpPr>
        <p:spPr>
          <a:xfrm>
            <a:off x="4828032" y="2871216"/>
            <a:ext cx="3657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66666"/>
                </a:solidFill>
              </a:rPr>
              <a:t>Upload photos → Cloudinary</a:t>
            </a:r>
            <a:endParaRPr lang="en-US" sz="800" dirty="0"/>
          </a:p>
        </p:txBody>
      </p:sp>
      <p:sp>
        <p:nvSpPr>
          <p:cNvPr id="50" name="Shape 48"/>
          <p:cNvSpPr/>
          <p:nvPr/>
        </p:nvSpPr>
        <p:spPr>
          <a:xfrm>
            <a:off x="4754880" y="3364992"/>
            <a:ext cx="3840480" cy="438912"/>
          </a:xfrm>
          <a:prstGeom prst="rect">
            <a:avLst/>
          </a:prstGeom>
          <a:solidFill>
            <a:srgbClr val="252525"/>
          </a:solidFill>
          <a:ln w="12700">
            <a:solidFill>
              <a:srgbClr val="303030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4828032" y="3392424"/>
            <a:ext cx="47548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2AAD72"/>
                </a:solidFill>
              </a:rPr>
              <a:t>GET</a:t>
            </a:r>
            <a:endParaRPr lang="en-US" sz="750" dirty="0"/>
          </a:p>
        </p:txBody>
      </p:sp>
      <p:sp>
        <p:nvSpPr>
          <p:cNvPr id="52" name="Text 50"/>
          <p:cNvSpPr/>
          <p:nvPr/>
        </p:nvSpPr>
        <p:spPr>
          <a:xfrm>
            <a:off x="4828032" y="3575304"/>
            <a:ext cx="22860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/api/listings/my</a:t>
            </a:r>
            <a:endParaRPr lang="en-US" sz="800" dirty="0"/>
          </a:p>
        </p:txBody>
      </p:sp>
      <p:sp>
        <p:nvSpPr>
          <p:cNvPr id="53" name="Text 51"/>
          <p:cNvSpPr/>
          <p:nvPr/>
        </p:nvSpPr>
        <p:spPr>
          <a:xfrm>
            <a:off x="4828032" y="3392424"/>
            <a:ext cx="3657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66666"/>
                </a:solidFill>
              </a:rPr>
              <a:t>Get current user's listings</a:t>
            </a:r>
            <a:endParaRPr lang="en-US" sz="800" dirty="0"/>
          </a:p>
        </p:txBody>
      </p:sp>
      <p:sp>
        <p:nvSpPr>
          <p:cNvPr id="54" name="Shape 52"/>
          <p:cNvSpPr/>
          <p:nvPr/>
        </p:nvSpPr>
        <p:spPr>
          <a:xfrm>
            <a:off x="4754880" y="3886200"/>
            <a:ext cx="3840480" cy="438912"/>
          </a:xfrm>
          <a:prstGeom prst="rect">
            <a:avLst/>
          </a:prstGeom>
          <a:solidFill>
            <a:srgbClr val="252525"/>
          </a:solidFill>
          <a:ln w="12700">
            <a:solidFill>
              <a:srgbClr val="303030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4828032" y="3913632"/>
            <a:ext cx="47548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2AAD72"/>
                </a:solidFill>
              </a:rPr>
              <a:t>GET</a:t>
            </a:r>
            <a:endParaRPr lang="en-US" sz="750" dirty="0"/>
          </a:p>
        </p:txBody>
      </p:sp>
      <p:sp>
        <p:nvSpPr>
          <p:cNvPr id="56" name="Text 54"/>
          <p:cNvSpPr/>
          <p:nvPr/>
        </p:nvSpPr>
        <p:spPr>
          <a:xfrm>
            <a:off x="4828032" y="4096512"/>
            <a:ext cx="22860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/api/listings/:id</a:t>
            </a:r>
            <a:endParaRPr lang="en-US" sz="800" dirty="0"/>
          </a:p>
        </p:txBody>
      </p:sp>
      <p:sp>
        <p:nvSpPr>
          <p:cNvPr id="57" name="Text 55"/>
          <p:cNvSpPr/>
          <p:nvPr/>
        </p:nvSpPr>
        <p:spPr>
          <a:xfrm>
            <a:off x="4828032" y="3913632"/>
            <a:ext cx="3657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66666"/>
                </a:solidFill>
              </a:rPr>
              <a:t>Get single listing detail</a:t>
            </a:r>
            <a:endParaRPr lang="en-US" sz="800" dirty="0"/>
          </a:p>
        </p:txBody>
      </p:sp>
      <p:sp>
        <p:nvSpPr>
          <p:cNvPr id="58" name="Text 56"/>
          <p:cNvSpPr/>
          <p:nvPr/>
        </p:nvSpPr>
        <p:spPr>
          <a:xfrm>
            <a:off x="4846320" y="4480560"/>
            <a:ext cx="2743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9952A"/>
                </a:solidFill>
              </a:rPr>
              <a:t>DB Schema: listings table</a:t>
            </a:r>
            <a:endParaRPr lang="en-US" sz="900" dirty="0"/>
          </a:p>
        </p:txBody>
      </p:sp>
      <p:sp>
        <p:nvSpPr>
          <p:cNvPr id="59" name="Text 57"/>
          <p:cNvSpPr/>
          <p:nvPr/>
        </p:nvSpPr>
        <p:spPr>
          <a:xfrm>
            <a:off x="4754880" y="4681728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88888"/>
                </a:solidFill>
              </a:rPr>
              <a:t>id · uuid · PK   ·   landlord_id · uuid · FK   ·   title · varchar   ·   listing_type · enum   ·   price · bigint   ·   location · text   ·   images · text[]   ·   trust_level · enum   ·   created_at · timestamptz</a:t>
            </a:r>
            <a:endParaRPr lang="en-US" sz="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61616"/>
          </a:solidFill>
          <a:ln w="12700">
            <a:solidFill>
              <a:srgbClr val="16161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2743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9952A"/>
                </a:solidFill>
              </a:rPr>
              <a:t>PROPATI  ·  PRD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0" y="0"/>
            <a:ext cx="8686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66666"/>
                </a:solidFill>
              </a:rPr>
              <a:t>Module 2 — Messaging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82296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Real-Time Messaging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65760" y="1481328"/>
            <a:ext cx="1508760" cy="1417320"/>
          </a:xfrm>
          <a:prstGeom prst="rect">
            <a:avLst/>
          </a:prstGeom>
          <a:solidFill>
            <a:srgbClr val="1F1F1F"/>
          </a:solidFill>
          <a:ln w="12700">
            <a:solidFill>
              <a:srgbClr val="2A2A2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1481328"/>
            <a:ext cx="1508760" cy="54864"/>
          </a:xfrm>
          <a:prstGeom prst="rect">
            <a:avLst/>
          </a:prstGeom>
          <a:solidFill>
            <a:srgbClr val="0E7C6A"/>
          </a:solidFill>
          <a:ln w="12700">
            <a:solidFill>
              <a:srgbClr val="0E7C6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1554480"/>
            <a:ext cx="1508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🔍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411480" y="2084832"/>
            <a:ext cx="1417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E7C6A"/>
                </a:solidFill>
              </a:rPr>
              <a:t>Tenant finds listing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411480" y="2395728"/>
            <a:ext cx="1417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CA3AF"/>
                </a:solidFill>
              </a:rPr>
              <a:t>Browses marketplace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1874520" y="1691640"/>
            <a:ext cx="19202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C9952A"/>
                </a:solidFill>
              </a:rPr>
              <a:t>→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2066544" y="1481328"/>
            <a:ext cx="1508760" cy="1417320"/>
          </a:xfrm>
          <a:prstGeom prst="rect">
            <a:avLst/>
          </a:prstGeom>
          <a:solidFill>
            <a:srgbClr val="1F1F1F"/>
          </a:solidFill>
          <a:ln w="12700">
            <a:solidFill>
              <a:srgbClr val="2A2A2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066544" y="1481328"/>
            <a:ext cx="1508760" cy="54864"/>
          </a:xfrm>
          <a:prstGeom prst="rect">
            <a:avLst/>
          </a:prstGeom>
          <a:solidFill>
            <a:srgbClr val="E0B04A"/>
          </a:solidFill>
          <a:ln w="12700">
            <a:solidFill>
              <a:srgbClr val="E0B04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066544" y="1554480"/>
            <a:ext cx="1508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💬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2112264" y="2084832"/>
            <a:ext cx="1417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E0B04A"/>
                </a:solidFill>
              </a:rPr>
              <a:t>Apply &amp; Message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2112264" y="2395728"/>
            <a:ext cx="1417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CA3AF"/>
                </a:solidFill>
              </a:rPr>
              <a:t>Opens conversation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3575304" y="1691640"/>
            <a:ext cx="19202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C9952A"/>
                </a:solidFill>
              </a:rPr>
              <a:t>→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3767328" y="1481328"/>
            <a:ext cx="1508760" cy="1417320"/>
          </a:xfrm>
          <a:prstGeom prst="rect">
            <a:avLst/>
          </a:prstGeom>
          <a:solidFill>
            <a:srgbClr val="1F1F1F"/>
          </a:solidFill>
          <a:ln w="12700">
            <a:solidFill>
              <a:srgbClr val="2A2A2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767328" y="1481328"/>
            <a:ext cx="1508760" cy="54864"/>
          </a:xfrm>
          <a:prstGeom prst="rect">
            <a:avLst/>
          </a:prstGeom>
          <a:solidFill>
            <a:srgbClr val="D4622A"/>
          </a:solidFill>
          <a:ln w="12700">
            <a:solidFill>
              <a:srgbClr val="D4622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767328" y="1554480"/>
            <a:ext cx="1508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📬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813048" y="2084832"/>
            <a:ext cx="1417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D4622A"/>
                </a:solidFill>
              </a:rPr>
              <a:t>Landlord receives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3813048" y="2395728"/>
            <a:ext cx="1417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CA3AF"/>
                </a:solidFill>
              </a:rPr>
              <a:t>Inbox notification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5276088" y="1691640"/>
            <a:ext cx="19202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C9952A"/>
                </a:solidFill>
              </a:rPr>
              <a:t>→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5468112" y="1481328"/>
            <a:ext cx="1508760" cy="1417320"/>
          </a:xfrm>
          <a:prstGeom prst="rect">
            <a:avLst/>
          </a:prstGeom>
          <a:solidFill>
            <a:srgbClr val="1F1F1F"/>
          </a:solidFill>
          <a:ln w="12700">
            <a:solidFill>
              <a:srgbClr val="2A2A2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5468112" y="1481328"/>
            <a:ext cx="1508760" cy="54864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468112" y="1554480"/>
            <a:ext cx="1508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📹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5513832" y="2084832"/>
            <a:ext cx="1417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A855F7"/>
                </a:solidFill>
              </a:rPr>
              <a:t>Screening call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5513832" y="2395728"/>
            <a:ext cx="1417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CA3AF"/>
                </a:solidFill>
              </a:rPr>
              <a:t>Video interview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6976872" y="1691640"/>
            <a:ext cx="19202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C9952A"/>
                </a:solidFill>
              </a:rPr>
              <a:t>→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7168896" y="1481328"/>
            <a:ext cx="1508760" cy="1417320"/>
          </a:xfrm>
          <a:prstGeom prst="rect">
            <a:avLst/>
          </a:prstGeom>
          <a:solidFill>
            <a:srgbClr val="1F1F1F"/>
          </a:solidFill>
          <a:ln w="12700">
            <a:solidFill>
              <a:srgbClr val="2A2A2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7168896" y="1481328"/>
            <a:ext cx="1508760" cy="54864"/>
          </a:xfrm>
          <a:prstGeom prst="rect">
            <a:avLst/>
          </a:prstGeom>
          <a:solidFill>
            <a:srgbClr val="2AAD72"/>
          </a:solidFill>
          <a:ln w="12700">
            <a:solidFill>
              <a:srgbClr val="2AAD72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168896" y="1554480"/>
            <a:ext cx="1508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✅</a:t>
            </a:r>
            <a:endParaRPr lang="en-US" sz="2200" dirty="0"/>
          </a:p>
        </p:txBody>
      </p:sp>
      <p:sp>
        <p:nvSpPr>
          <p:cNvPr id="33" name="Text 31"/>
          <p:cNvSpPr/>
          <p:nvPr/>
        </p:nvSpPr>
        <p:spPr>
          <a:xfrm>
            <a:off x="7214616" y="2084832"/>
            <a:ext cx="1417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AAD72"/>
                </a:solidFill>
              </a:rPr>
              <a:t>Approved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7214616" y="2395728"/>
            <a:ext cx="1417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CA3AF"/>
                </a:solidFill>
              </a:rPr>
              <a:t>Agreement sent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365760" y="3108960"/>
            <a:ext cx="4023360" cy="1828800"/>
          </a:xfrm>
          <a:prstGeom prst="rect">
            <a:avLst/>
          </a:prstGeom>
          <a:solidFill>
            <a:srgbClr val="1A1A1A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754880" y="3108960"/>
            <a:ext cx="4023360" cy="1828800"/>
          </a:xfrm>
          <a:prstGeom prst="rect">
            <a:avLst/>
          </a:prstGeom>
          <a:solidFill>
            <a:srgbClr val="1A1A1A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02920" y="3182112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0B04A"/>
                </a:solidFill>
              </a:rPr>
              <a:t>Implementation Spec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4892040" y="3182112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E7C6A"/>
                </a:solidFill>
              </a:rPr>
              <a:t>Data Model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475488" y="3456432"/>
            <a:ext cx="914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E0B04A"/>
                </a:solidFill>
              </a:rPr>
              <a:t>Storage: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1417320" y="3456432"/>
            <a:ext cx="28346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AAAAA"/>
                </a:solidFill>
              </a:rPr>
              <a:t>Supabase PostgreSQL — conversations + messages tables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475488" y="3703320"/>
            <a:ext cx="914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E0B04A"/>
                </a:solidFill>
              </a:rPr>
              <a:t>Polling: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1417320" y="3703320"/>
            <a:ext cx="28346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AAAAA"/>
                </a:solidFill>
              </a:rPr>
              <a:t>4-second interval setInterval — no WebSocket needed at MVP</a:t>
            </a:r>
            <a:endParaRPr lang="en-US" sz="800" dirty="0"/>
          </a:p>
        </p:txBody>
      </p:sp>
      <p:sp>
        <p:nvSpPr>
          <p:cNvPr id="43" name="Text 41"/>
          <p:cNvSpPr/>
          <p:nvPr/>
        </p:nvSpPr>
        <p:spPr>
          <a:xfrm>
            <a:off x="475488" y="3950208"/>
            <a:ext cx="914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E0B04A"/>
                </a:solidFill>
              </a:rPr>
              <a:t>Optimistic UI:</a:t>
            </a:r>
            <a:endParaRPr lang="en-US" sz="800" dirty="0"/>
          </a:p>
        </p:txBody>
      </p:sp>
      <p:sp>
        <p:nvSpPr>
          <p:cNvPr id="44" name="Text 42"/>
          <p:cNvSpPr/>
          <p:nvPr/>
        </p:nvSpPr>
        <p:spPr>
          <a:xfrm>
            <a:off x="1417320" y="3950208"/>
            <a:ext cx="28346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AAAAA"/>
                </a:solidFill>
              </a:rPr>
              <a:t>Message appears instantly; confirmed/rolled back after API response</a:t>
            </a:r>
            <a:endParaRPr lang="en-US" sz="800" dirty="0"/>
          </a:p>
        </p:txBody>
      </p:sp>
      <p:sp>
        <p:nvSpPr>
          <p:cNvPr id="45" name="Text 43"/>
          <p:cNvSpPr/>
          <p:nvPr/>
        </p:nvSpPr>
        <p:spPr>
          <a:xfrm>
            <a:off x="475488" y="4197096"/>
            <a:ext cx="914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E0B04A"/>
                </a:solidFill>
              </a:rPr>
              <a:t>Conversation init:</a:t>
            </a:r>
            <a:endParaRPr lang="en-US" sz="800" dirty="0"/>
          </a:p>
        </p:txBody>
      </p:sp>
      <p:sp>
        <p:nvSpPr>
          <p:cNvPr id="46" name="Text 44"/>
          <p:cNvSpPr/>
          <p:nvPr/>
        </p:nvSpPr>
        <p:spPr>
          <a:xfrm>
            <a:off x="1417320" y="4197096"/>
            <a:ext cx="28346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AAAAA"/>
                </a:solidFill>
              </a:rPr>
              <a:t>POST /api/messages/conversations — creates or fetches existing conv</a:t>
            </a:r>
            <a:endParaRPr lang="en-US" sz="800" dirty="0"/>
          </a:p>
        </p:txBody>
      </p:sp>
      <p:sp>
        <p:nvSpPr>
          <p:cNvPr id="47" name="Text 45"/>
          <p:cNvSpPr/>
          <p:nvPr/>
        </p:nvSpPr>
        <p:spPr>
          <a:xfrm>
            <a:off x="475488" y="4443984"/>
            <a:ext cx="914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E0B04A"/>
                </a:solidFill>
              </a:rPr>
              <a:t>Message send:</a:t>
            </a:r>
            <a:endParaRPr lang="en-US" sz="800" dirty="0"/>
          </a:p>
        </p:txBody>
      </p:sp>
      <p:sp>
        <p:nvSpPr>
          <p:cNvPr id="48" name="Text 46"/>
          <p:cNvSpPr/>
          <p:nvPr/>
        </p:nvSpPr>
        <p:spPr>
          <a:xfrm>
            <a:off x="1417320" y="4443984"/>
            <a:ext cx="28346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AAAAA"/>
                </a:solidFill>
              </a:rPr>
              <a:t>POST /api/messages/conversations/:id/messages</a:t>
            </a:r>
            <a:endParaRPr lang="en-US" sz="800" dirty="0"/>
          </a:p>
        </p:txBody>
      </p:sp>
      <p:sp>
        <p:nvSpPr>
          <p:cNvPr id="49" name="Text 47"/>
          <p:cNvSpPr/>
          <p:nvPr/>
        </p:nvSpPr>
        <p:spPr>
          <a:xfrm>
            <a:off x="475488" y="4690872"/>
            <a:ext cx="914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E0B04A"/>
                </a:solidFill>
              </a:rPr>
              <a:t>Auto-scroll:</a:t>
            </a:r>
            <a:endParaRPr lang="en-US" sz="800" dirty="0"/>
          </a:p>
        </p:txBody>
      </p:sp>
      <p:sp>
        <p:nvSpPr>
          <p:cNvPr id="50" name="Text 48"/>
          <p:cNvSpPr/>
          <p:nvPr/>
        </p:nvSpPr>
        <p:spPr>
          <a:xfrm>
            <a:off x="1417320" y="4690872"/>
            <a:ext cx="28346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AAAAA"/>
                </a:solidFill>
              </a:rPr>
              <a:t>Scroll to bottom on new messages if user is at bottom</a:t>
            </a:r>
            <a:endParaRPr lang="en-US" sz="800" dirty="0"/>
          </a:p>
        </p:txBody>
      </p:sp>
      <p:sp>
        <p:nvSpPr>
          <p:cNvPr id="51" name="Text 49"/>
          <p:cNvSpPr/>
          <p:nvPr/>
        </p:nvSpPr>
        <p:spPr>
          <a:xfrm>
            <a:off x="4828032" y="3456432"/>
            <a:ext cx="11887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5EEAD4"/>
                </a:solidFill>
              </a:rPr>
              <a:t>DB: conversations:</a:t>
            </a:r>
            <a:endParaRPr lang="en-US" sz="800" dirty="0"/>
          </a:p>
        </p:txBody>
      </p:sp>
      <p:sp>
        <p:nvSpPr>
          <p:cNvPr id="52" name="Text 50"/>
          <p:cNvSpPr/>
          <p:nvPr/>
        </p:nvSpPr>
        <p:spPr>
          <a:xfrm>
            <a:off x="6053328" y="3456432"/>
            <a:ext cx="25603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AAAAA"/>
                </a:solidFill>
              </a:rPr>
              <a:t>id · tenant_id · landlord_id · listing_id · last_message · unread_count</a:t>
            </a:r>
            <a:endParaRPr lang="en-US" sz="800" dirty="0"/>
          </a:p>
        </p:txBody>
      </p:sp>
      <p:sp>
        <p:nvSpPr>
          <p:cNvPr id="53" name="Text 51"/>
          <p:cNvSpPr/>
          <p:nvPr/>
        </p:nvSpPr>
        <p:spPr>
          <a:xfrm>
            <a:off x="4828032" y="3703320"/>
            <a:ext cx="11887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5EEAD4"/>
                </a:solidFill>
              </a:rPr>
              <a:t>DB: messages:</a:t>
            </a:r>
            <a:endParaRPr lang="en-US" sz="800" dirty="0"/>
          </a:p>
        </p:txBody>
      </p:sp>
      <p:sp>
        <p:nvSpPr>
          <p:cNvPr id="54" name="Text 52"/>
          <p:cNvSpPr/>
          <p:nvPr/>
        </p:nvSpPr>
        <p:spPr>
          <a:xfrm>
            <a:off x="6053328" y="3703320"/>
            <a:ext cx="25603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AAAAA"/>
                </a:solidFill>
              </a:rPr>
              <a:t>id · conversation_id · sender_id · content · is_read · created_at</a:t>
            </a:r>
            <a:endParaRPr lang="en-US" sz="800" dirty="0"/>
          </a:p>
        </p:txBody>
      </p:sp>
      <p:sp>
        <p:nvSpPr>
          <p:cNvPr id="55" name="Text 53"/>
          <p:cNvSpPr/>
          <p:nvPr/>
        </p:nvSpPr>
        <p:spPr>
          <a:xfrm>
            <a:off x="4828032" y="3950208"/>
            <a:ext cx="11887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5EEAD4"/>
                </a:solidFill>
              </a:rPr>
              <a:t>Read receipts:</a:t>
            </a:r>
            <a:endParaRPr lang="en-US" sz="800" dirty="0"/>
          </a:p>
        </p:txBody>
      </p:sp>
      <p:sp>
        <p:nvSpPr>
          <p:cNvPr id="56" name="Text 54"/>
          <p:cNvSpPr/>
          <p:nvPr/>
        </p:nvSpPr>
        <p:spPr>
          <a:xfrm>
            <a:off x="6053328" y="3950208"/>
            <a:ext cx="25603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AAAAA"/>
                </a:solidFill>
              </a:rPr>
              <a:t>✓✓ shown when is_read = true</a:t>
            </a:r>
            <a:endParaRPr lang="en-US" sz="800" dirty="0"/>
          </a:p>
        </p:txBody>
      </p:sp>
      <p:sp>
        <p:nvSpPr>
          <p:cNvPr id="57" name="Text 55"/>
          <p:cNvSpPr/>
          <p:nvPr/>
        </p:nvSpPr>
        <p:spPr>
          <a:xfrm>
            <a:off x="4828032" y="4197096"/>
            <a:ext cx="11887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5EEAD4"/>
                </a:solidFill>
              </a:rPr>
              <a:t>Unread badge:</a:t>
            </a:r>
            <a:endParaRPr lang="en-US" sz="800" dirty="0"/>
          </a:p>
        </p:txBody>
      </p:sp>
      <p:sp>
        <p:nvSpPr>
          <p:cNvPr id="58" name="Text 56"/>
          <p:cNvSpPr/>
          <p:nvPr/>
        </p:nvSpPr>
        <p:spPr>
          <a:xfrm>
            <a:off x="6053328" y="4197096"/>
            <a:ext cx="25603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AAAAA"/>
                </a:solidFill>
              </a:rPr>
              <a:t>Red dot on conversation list item when unread_count &gt; 0</a:t>
            </a:r>
            <a:endParaRPr lang="en-US" sz="800" dirty="0"/>
          </a:p>
        </p:txBody>
      </p:sp>
      <p:sp>
        <p:nvSpPr>
          <p:cNvPr id="59" name="Text 57"/>
          <p:cNvSpPr/>
          <p:nvPr/>
        </p:nvSpPr>
        <p:spPr>
          <a:xfrm>
            <a:off x="4828032" y="4443984"/>
            <a:ext cx="11887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5EEAD4"/>
                </a:solidFill>
              </a:rPr>
              <a:t>Polling stop:</a:t>
            </a:r>
            <a:endParaRPr lang="en-US" sz="800" dirty="0"/>
          </a:p>
        </p:txBody>
      </p:sp>
      <p:sp>
        <p:nvSpPr>
          <p:cNvPr id="60" name="Text 58"/>
          <p:cNvSpPr/>
          <p:nvPr/>
        </p:nvSpPr>
        <p:spPr>
          <a:xfrm>
            <a:off x="6053328" y="4443984"/>
            <a:ext cx="25603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AAAAA"/>
                </a:solidFill>
              </a:rPr>
              <a:t>clearInterval on navigate away — resumes on return</a:t>
            </a:r>
            <a:endParaRPr lang="en-US" sz="800" dirty="0"/>
          </a:p>
        </p:txBody>
      </p:sp>
      <p:sp>
        <p:nvSpPr>
          <p:cNvPr id="61" name="Text 59"/>
          <p:cNvSpPr/>
          <p:nvPr/>
        </p:nvSpPr>
        <p:spPr>
          <a:xfrm>
            <a:off x="4828032" y="4690872"/>
            <a:ext cx="11887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5EEAD4"/>
                </a:solidFill>
              </a:rPr>
              <a:t>Filter:</a:t>
            </a:r>
            <a:endParaRPr lang="en-US" sz="800" dirty="0"/>
          </a:p>
        </p:txBody>
      </p:sp>
      <p:sp>
        <p:nvSpPr>
          <p:cNvPr id="62" name="Text 60"/>
          <p:cNvSpPr/>
          <p:nvPr/>
        </p:nvSpPr>
        <p:spPr>
          <a:xfrm>
            <a:off x="6053328" y="4690872"/>
            <a:ext cx="25603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AAAAA"/>
                </a:solidFill>
              </a:rPr>
              <a:t>Client-side search of conversation list by contact name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3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2743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9952A"/>
                </a:solidFill>
              </a:rPr>
              <a:t>PROPATI  ·  PRD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0" y="0"/>
            <a:ext cx="8686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88888"/>
                </a:solidFill>
              </a:rPr>
              <a:t>Module 3 — Verification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804672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1A"/>
                </a:solidFill>
              </a:rPr>
              <a:t>5-Layer Trust Verification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457200" y="1307592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</a:rPr>
              <a:t>The highest trust framework in Nigerian property. Each layer builds on the previous.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84048" y="1691640"/>
            <a:ext cx="1572768" cy="3246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9E5D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84048" y="1691640"/>
            <a:ext cx="1572768" cy="6400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84048" y="1801368"/>
            <a:ext cx="157276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📁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384048" y="2212848"/>
            <a:ext cx="157276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F59E0B"/>
                </a:solidFill>
              </a:rPr>
              <a:t>01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448056" y="2441448"/>
            <a:ext cx="144475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A1A1A"/>
                </a:solidFill>
              </a:rPr>
              <a:t>Document Upload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12648" y="2834640"/>
            <a:ext cx="1115568" cy="246888"/>
          </a:xfrm>
          <a:prstGeom prst="rect">
            <a:avLst/>
          </a:prstGeom>
          <a:solidFill>
            <a:srgbClr val="F59E0B">
              <a:alpha val="10000"/>
            </a:srgbClr>
          </a:solidFill>
          <a:ln w="12700">
            <a:solidFill>
              <a:srgbClr val="F59E0B">
                <a:alpha val="40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12648" y="2834640"/>
            <a:ext cx="1115568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59E0B"/>
                </a:solidFill>
              </a:rPr>
              <a:t>Basic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457200" y="3172968"/>
            <a:ext cx="144475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59E0B"/>
                </a:solidFill>
              </a:rPr>
              <a:t>·  </a:t>
            </a:r>
            <a:pPr indent="0" marL="0">
              <a:buNone/>
            </a:pPr>
            <a:r>
              <a:rPr lang="en-US" sz="850" dirty="0">
                <a:solidFill>
                  <a:srgbClr val="374151"/>
                </a:solidFill>
              </a:rPr>
              <a:t>Certificate of Occupancy (C of O)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457200" y="3493008"/>
            <a:ext cx="144475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59E0B"/>
                </a:solidFill>
              </a:rPr>
              <a:t>·  </a:t>
            </a:r>
            <a:pPr indent="0" marL="0">
              <a:buNone/>
            </a:pPr>
            <a:r>
              <a:rPr lang="en-US" sz="850" dirty="0">
                <a:solidFill>
                  <a:srgbClr val="374151"/>
                </a:solidFill>
              </a:rPr>
              <a:t>Deed of Assignment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457200" y="3813048"/>
            <a:ext cx="144475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59E0B"/>
                </a:solidFill>
              </a:rPr>
              <a:t>·  </a:t>
            </a:r>
            <a:pPr indent="0" marL="0">
              <a:buNone/>
            </a:pPr>
            <a:r>
              <a:rPr lang="en-US" sz="850" dirty="0">
                <a:solidFill>
                  <a:srgbClr val="374151"/>
                </a:solidFill>
              </a:rPr>
              <a:t>Survey Plan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457200" y="4133088"/>
            <a:ext cx="144475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59E0B"/>
                </a:solidFill>
              </a:rPr>
              <a:t>·  </a:t>
            </a:r>
            <a:pPr indent="0" marL="0">
              <a:buNone/>
            </a:pPr>
            <a:r>
              <a:rPr lang="en-US" sz="850" dirty="0">
                <a:solidFill>
                  <a:srgbClr val="374151"/>
                </a:solidFill>
              </a:rPr>
              <a:t>Governor's Consent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2066544" y="1691640"/>
            <a:ext cx="1572768" cy="3246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9E5D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2066544" y="1691640"/>
            <a:ext cx="1572768" cy="64008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066544" y="1801368"/>
            <a:ext cx="157276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🪪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2066544" y="2212848"/>
            <a:ext cx="157276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3B82F6"/>
                </a:solidFill>
              </a:rPr>
              <a:t>02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2130552" y="2441448"/>
            <a:ext cx="144475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A1A1A"/>
                </a:solidFill>
              </a:rPr>
              <a:t>Identity Match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2295144" y="2834640"/>
            <a:ext cx="1115568" cy="246888"/>
          </a:xfrm>
          <a:prstGeom prst="rect">
            <a:avLst/>
          </a:prstGeom>
          <a:solidFill>
            <a:srgbClr val="3B82F6">
              <a:alpha val="10000"/>
            </a:srgbClr>
          </a:solidFill>
          <a:ln w="12700">
            <a:solidFill>
              <a:srgbClr val="3B82F6">
                <a:alpha val="4000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295144" y="2834640"/>
            <a:ext cx="1115568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3B82F6"/>
                </a:solidFill>
              </a:rPr>
              <a:t>Verified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2139696" y="3172968"/>
            <a:ext cx="144475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B82F6"/>
                </a:solidFill>
              </a:rPr>
              <a:t>·  </a:t>
            </a:r>
            <a:pPr indent="0" marL="0">
              <a:buNone/>
            </a:pPr>
            <a:r>
              <a:rPr lang="en-US" sz="850" dirty="0">
                <a:solidFill>
                  <a:srgbClr val="374151"/>
                </a:solidFill>
              </a:rPr>
              <a:t>Full name on ID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2139696" y="3493008"/>
            <a:ext cx="144475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B82F6"/>
                </a:solidFill>
              </a:rPr>
              <a:t>·  </a:t>
            </a:r>
            <a:pPr indent="0" marL="0">
              <a:buNone/>
            </a:pPr>
            <a:r>
              <a:rPr lang="en-US" sz="850" dirty="0">
                <a:solidFill>
                  <a:srgbClr val="374151"/>
                </a:solidFill>
              </a:rPr>
              <a:t>NIN / Passport / Driver's licence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2139696" y="3813048"/>
            <a:ext cx="144475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B82F6"/>
                </a:solidFill>
              </a:rPr>
              <a:t>·  </a:t>
            </a:r>
            <a:pPr indent="0" marL="0">
              <a:buNone/>
            </a:pPr>
            <a:r>
              <a:rPr lang="en-US" sz="850" dirty="0">
                <a:solidFill>
                  <a:srgbClr val="374151"/>
                </a:solidFill>
              </a:rPr>
              <a:t>ID photo upload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2139696" y="4133088"/>
            <a:ext cx="144475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B82F6"/>
                </a:solidFill>
              </a:rPr>
              <a:t>·  </a:t>
            </a:r>
            <a:pPr indent="0" marL="0">
              <a:buNone/>
            </a:pPr>
            <a:r>
              <a:rPr lang="en-US" sz="850" dirty="0">
                <a:solidFill>
                  <a:srgbClr val="374151"/>
                </a:solidFill>
              </a:rPr>
              <a:t>Name must match property docs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3749040" y="1691640"/>
            <a:ext cx="1572768" cy="3246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9E5D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3749040" y="1691640"/>
            <a:ext cx="1572768" cy="64008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749040" y="1801368"/>
            <a:ext cx="157276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📹</a:t>
            </a:r>
            <a:endParaRPr lang="en-US" sz="2000" dirty="0"/>
          </a:p>
        </p:txBody>
      </p:sp>
      <p:sp>
        <p:nvSpPr>
          <p:cNvPr id="32" name="Text 30"/>
          <p:cNvSpPr/>
          <p:nvPr/>
        </p:nvSpPr>
        <p:spPr>
          <a:xfrm>
            <a:off x="3749040" y="2212848"/>
            <a:ext cx="157276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8B5CF6"/>
                </a:solidFill>
              </a:rPr>
              <a:t>03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3813048" y="2441448"/>
            <a:ext cx="144475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A1A1A"/>
                </a:solidFill>
              </a:rPr>
              <a:t>Live Video Proof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3977640" y="2834640"/>
            <a:ext cx="1115568" cy="246888"/>
          </a:xfrm>
          <a:prstGeom prst="rect">
            <a:avLst/>
          </a:prstGeom>
          <a:solidFill>
            <a:srgbClr val="8B5CF6">
              <a:alpha val="10000"/>
            </a:srgbClr>
          </a:solidFill>
          <a:ln w="12700">
            <a:solidFill>
              <a:srgbClr val="8B5CF6">
                <a:alpha val="40000"/>
              </a:srgbClr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977640" y="2834640"/>
            <a:ext cx="1115568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B5CF6"/>
                </a:solidFill>
              </a:rPr>
              <a:t>Attested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3822192" y="3172968"/>
            <a:ext cx="144475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B5CF6"/>
                </a:solidFill>
              </a:rPr>
              <a:t>·  </a:t>
            </a:r>
            <a:pPr indent="0" marL="0">
              <a:buNone/>
            </a:pPr>
            <a:r>
              <a:rPr lang="en-US" sz="850" dirty="0">
                <a:solidFill>
                  <a:srgbClr val="374151"/>
                </a:solidFill>
              </a:rPr>
              <a:t>QR code (24hr expiry)</a:t>
            </a:r>
            <a:endParaRPr lang="en-US" sz="850" dirty="0"/>
          </a:p>
        </p:txBody>
      </p:sp>
      <p:sp>
        <p:nvSpPr>
          <p:cNvPr id="37" name="Text 35"/>
          <p:cNvSpPr/>
          <p:nvPr/>
        </p:nvSpPr>
        <p:spPr>
          <a:xfrm>
            <a:off x="3822192" y="3493008"/>
            <a:ext cx="144475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B5CF6"/>
                </a:solidFill>
              </a:rPr>
              <a:t>·  </a:t>
            </a:r>
            <a:pPr indent="0" marL="0">
              <a:buNone/>
            </a:pPr>
            <a:r>
              <a:rPr lang="en-US" sz="850" dirty="0">
                <a:solidFill>
                  <a:srgbClr val="374151"/>
                </a:solidFill>
              </a:rPr>
              <a:t>Record inside property</a:t>
            </a:r>
            <a:endParaRPr lang="en-US" sz="850" dirty="0"/>
          </a:p>
        </p:txBody>
      </p:sp>
      <p:sp>
        <p:nvSpPr>
          <p:cNvPr id="38" name="Text 36"/>
          <p:cNvSpPr/>
          <p:nvPr/>
        </p:nvSpPr>
        <p:spPr>
          <a:xfrm>
            <a:off x="3822192" y="3813048"/>
            <a:ext cx="144475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B5CF6"/>
                </a:solidFill>
              </a:rPr>
              <a:t>·  </a:t>
            </a:r>
            <a:pPr indent="0" marL="0">
              <a:buNone/>
            </a:pPr>
            <a:r>
              <a:rPr lang="en-US" sz="850" dirty="0">
                <a:solidFill>
                  <a:srgbClr val="374151"/>
                </a:solidFill>
              </a:rPr>
              <a:t>State name on camera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3822192" y="4133088"/>
            <a:ext cx="144475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B5CF6"/>
                </a:solidFill>
              </a:rPr>
              <a:t>·  </a:t>
            </a:r>
            <a:pPr indent="0" marL="0">
              <a:buNone/>
            </a:pPr>
            <a:r>
              <a:rPr lang="en-US" sz="850" dirty="0">
                <a:solidFill>
                  <a:srgbClr val="374151"/>
                </a:solidFill>
              </a:rPr>
              <a:t>Walk through 2+ rooms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5431536" y="1691640"/>
            <a:ext cx="1572768" cy="3246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9E5D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5431536" y="1691640"/>
            <a:ext cx="1572768" cy="64008"/>
          </a:xfrm>
          <a:prstGeom prst="rect">
            <a:avLst/>
          </a:prstGeom>
          <a:solidFill>
            <a:srgbClr val="0E7C6A"/>
          </a:solidFill>
          <a:ln w="12700">
            <a:solidFill>
              <a:srgbClr val="0E7C6A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431536" y="1801368"/>
            <a:ext cx="157276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🔍</a:t>
            </a:r>
            <a:endParaRPr lang="en-US" sz="2000" dirty="0"/>
          </a:p>
        </p:txBody>
      </p:sp>
      <p:sp>
        <p:nvSpPr>
          <p:cNvPr id="43" name="Text 41"/>
          <p:cNvSpPr/>
          <p:nvPr/>
        </p:nvSpPr>
        <p:spPr>
          <a:xfrm>
            <a:off x="5431536" y="2212848"/>
            <a:ext cx="157276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0E7C6A"/>
                </a:solidFill>
              </a:rPr>
              <a:t>04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5495544" y="2441448"/>
            <a:ext cx="144475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A1A1A"/>
                </a:solidFill>
              </a:rPr>
              <a:t>Physical Inspection</a:t>
            </a:r>
            <a:endParaRPr lang="en-US" sz="1050" dirty="0"/>
          </a:p>
        </p:txBody>
      </p:sp>
      <p:sp>
        <p:nvSpPr>
          <p:cNvPr id="45" name="Shape 43"/>
          <p:cNvSpPr/>
          <p:nvPr/>
        </p:nvSpPr>
        <p:spPr>
          <a:xfrm>
            <a:off x="5660136" y="2834640"/>
            <a:ext cx="1115568" cy="246888"/>
          </a:xfrm>
          <a:prstGeom prst="rect">
            <a:avLst/>
          </a:prstGeom>
          <a:solidFill>
            <a:srgbClr val="0E7C6A">
              <a:alpha val="10000"/>
            </a:srgbClr>
          </a:solidFill>
          <a:ln w="12700">
            <a:solidFill>
              <a:srgbClr val="0E7C6A">
                <a:alpha val="40000"/>
              </a:srgbClr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5660136" y="2834640"/>
            <a:ext cx="1115568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E7C6A"/>
                </a:solidFill>
              </a:rPr>
              <a:t>Inspected</a:t>
            </a:r>
            <a:endParaRPr lang="en-US" sz="800" dirty="0"/>
          </a:p>
        </p:txBody>
      </p:sp>
      <p:sp>
        <p:nvSpPr>
          <p:cNvPr id="47" name="Text 45"/>
          <p:cNvSpPr/>
          <p:nvPr/>
        </p:nvSpPr>
        <p:spPr>
          <a:xfrm>
            <a:off x="5504688" y="3172968"/>
            <a:ext cx="144475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E7C6A"/>
                </a:solidFill>
              </a:rPr>
              <a:t>·  </a:t>
            </a:r>
            <a:pPr indent="0" marL="0">
              <a:buNone/>
            </a:pPr>
            <a:r>
              <a:rPr lang="en-US" sz="850" dirty="0">
                <a:solidFill>
                  <a:srgbClr val="374151"/>
                </a:solidFill>
              </a:rPr>
              <a:t>PROPATI agent visits</a:t>
            </a:r>
            <a:endParaRPr lang="en-US" sz="850" dirty="0"/>
          </a:p>
        </p:txBody>
      </p:sp>
      <p:sp>
        <p:nvSpPr>
          <p:cNvPr id="48" name="Text 46"/>
          <p:cNvSpPr/>
          <p:nvPr/>
        </p:nvSpPr>
        <p:spPr>
          <a:xfrm>
            <a:off x="5504688" y="3493008"/>
            <a:ext cx="144475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E7C6A"/>
                </a:solidFill>
              </a:rPr>
              <a:t>·  </a:t>
            </a:r>
            <a:pPr indent="0" marL="0">
              <a:buNone/>
            </a:pPr>
            <a:r>
              <a:rPr lang="en-US" sz="850" dirty="0">
                <a:solidFill>
                  <a:srgbClr val="374151"/>
                </a:solidFill>
              </a:rPr>
              <a:t>Date + time scheduling</a:t>
            </a:r>
            <a:endParaRPr lang="en-US" sz="850" dirty="0"/>
          </a:p>
        </p:txBody>
      </p:sp>
      <p:sp>
        <p:nvSpPr>
          <p:cNvPr id="49" name="Text 47"/>
          <p:cNvSpPr/>
          <p:nvPr/>
        </p:nvSpPr>
        <p:spPr>
          <a:xfrm>
            <a:off x="5504688" y="3813048"/>
            <a:ext cx="144475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E7C6A"/>
                </a:solidFill>
              </a:rPr>
              <a:t>·  </a:t>
            </a:r>
            <a:pPr indent="0" marL="0">
              <a:buNone/>
            </a:pPr>
            <a:r>
              <a:rPr lang="en-US" sz="850" dirty="0">
                <a:solidFill>
                  <a:srgbClr val="374151"/>
                </a:solidFill>
              </a:rPr>
              <a:t>₦15,000 inspection fee</a:t>
            </a:r>
            <a:endParaRPr lang="en-US" sz="850" dirty="0"/>
          </a:p>
        </p:txBody>
      </p:sp>
      <p:sp>
        <p:nvSpPr>
          <p:cNvPr id="50" name="Text 48"/>
          <p:cNvSpPr/>
          <p:nvPr/>
        </p:nvSpPr>
        <p:spPr>
          <a:xfrm>
            <a:off x="5504688" y="4133088"/>
            <a:ext cx="144475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E7C6A"/>
                </a:solidFill>
              </a:rPr>
              <a:t>·  </a:t>
            </a:r>
            <a:pPr indent="0" marL="0">
              <a:buNone/>
            </a:pPr>
            <a:r>
              <a:rPr lang="en-US" sz="850" dirty="0">
                <a:solidFill>
                  <a:srgbClr val="374151"/>
                </a:solidFill>
              </a:rPr>
              <a:t>On-site doc verification</a:t>
            </a:r>
            <a:endParaRPr lang="en-US" sz="850" dirty="0"/>
          </a:p>
        </p:txBody>
      </p:sp>
      <p:sp>
        <p:nvSpPr>
          <p:cNvPr id="51" name="Shape 49"/>
          <p:cNvSpPr/>
          <p:nvPr/>
        </p:nvSpPr>
        <p:spPr>
          <a:xfrm>
            <a:off x="7114032" y="1691640"/>
            <a:ext cx="1572768" cy="3246120"/>
          </a:xfrm>
          <a:prstGeom prst="rect">
            <a:avLst/>
          </a:prstGeom>
          <a:solidFill>
            <a:srgbClr val="1A1A1A"/>
          </a:solidFill>
          <a:ln w="12700">
            <a:solidFill>
              <a:srgbClr val="C9952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52" name="Shape 50"/>
          <p:cNvSpPr/>
          <p:nvPr/>
        </p:nvSpPr>
        <p:spPr>
          <a:xfrm>
            <a:off x="7114032" y="1691640"/>
            <a:ext cx="1572768" cy="64008"/>
          </a:xfrm>
          <a:prstGeom prst="rect">
            <a:avLst/>
          </a:prstGeom>
          <a:solidFill>
            <a:srgbClr val="C9952A"/>
          </a:solidFill>
          <a:ln w="12700">
            <a:solidFill>
              <a:srgbClr val="C9952A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7114032" y="1801368"/>
            <a:ext cx="157276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⭐</a:t>
            </a:r>
            <a:endParaRPr lang="en-US" sz="2000" dirty="0"/>
          </a:p>
        </p:txBody>
      </p:sp>
      <p:sp>
        <p:nvSpPr>
          <p:cNvPr id="54" name="Text 52"/>
          <p:cNvSpPr/>
          <p:nvPr/>
        </p:nvSpPr>
        <p:spPr>
          <a:xfrm>
            <a:off x="7114032" y="2212848"/>
            <a:ext cx="157276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C9952A"/>
                </a:solidFill>
              </a:rPr>
              <a:t>05</a:t>
            </a:r>
            <a:endParaRPr lang="en-US" sz="900" dirty="0"/>
          </a:p>
        </p:txBody>
      </p:sp>
      <p:sp>
        <p:nvSpPr>
          <p:cNvPr id="55" name="Text 53"/>
          <p:cNvSpPr/>
          <p:nvPr/>
        </p:nvSpPr>
        <p:spPr>
          <a:xfrm>
            <a:off x="7178040" y="2441448"/>
            <a:ext cx="144475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Admin Certification</a:t>
            </a:r>
            <a:endParaRPr lang="en-US" sz="1050" dirty="0"/>
          </a:p>
        </p:txBody>
      </p:sp>
      <p:sp>
        <p:nvSpPr>
          <p:cNvPr id="56" name="Shape 54"/>
          <p:cNvSpPr/>
          <p:nvPr/>
        </p:nvSpPr>
        <p:spPr>
          <a:xfrm>
            <a:off x="7342632" y="2834640"/>
            <a:ext cx="1115568" cy="246888"/>
          </a:xfrm>
          <a:prstGeom prst="rect">
            <a:avLst/>
          </a:prstGeom>
          <a:solidFill>
            <a:srgbClr val="C9952A"/>
          </a:solidFill>
          <a:ln w="12700">
            <a:solidFill>
              <a:srgbClr val="C9952A">
                <a:alpha val="40000"/>
              </a:srgbClr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7342632" y="2834640"/>
            <a:ext cx="1115568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A1A1A"/>
                </a:solidFill>
              </a:rPr>
              <a:t>⭐ Certified</a:t>
            </a:r>
            <a:endParaRPr lang="en-US" sz="800" dirty="0"/>
          </a:p>
        </p:txBody>
      </p:sp>
      <p:sp>
        <p:nvSpPr>
          <p:cNvPr id="58" name="Text 56"/>
          <p:cNvSpPr/>
          <p:nvPr/>
        </p:nvSpPr>
        <p:spPr>
          <a:xfrm>
            <a:off x="7187184" y="3172968"/>
            <a:ext cx="144475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9952A"/>
                </a:solidFill>
              </a:rPr>
              <a:t>·  </a:t>
            </a:r>
            <a:pPr indent="0" marL="0">
              <a:buNone/>
            </a:pPr>
            <a:r>
              <a:rPr lang="en-US" sz="850" dirty="0">
                <a:solidFill>
                  <a:srgbClr val="AAAAAA"/>
                </a:solidFill>
              </a:rPr>
              <a:t>Admin reviews all layers</a:t>
            </a:r>
            <a:endParaRPr lang="en-US" sz="850" dirty="0"/>
          </a:p>
        </p:txBody>
      </p:sp>
      <p:sp>
        <p:nvSpPr>
          <p:cNvPr id="59" name="Text 57"/>
          <p:cNvSpPr/>
          <p:nvPr/>
        </p:nvSpPr>
        <p:spPr>
          <a:xfrm>
            <a:off x="7187184" y="3493008"/>
            <a:ext cx="144475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9952A"/>
                </a:solidFill>
              </a:rPr>
              <a:t>·  </a:t>
            </a:r>
            <a:pPr indent="0" marL="0">
              <a:buNone/>
            </a:pPr>
            <a:r>
              <a:rPr lang="en-US" sz="850" dirty="0">
                <a:solidFill>
                  <a:srgbClr val="AAAAAA"/>
                </a:solidFill>
              </a:rPr>
              <a:t>Listing gets ⭐ badge</a:t>
            </a:r>
            <a:endParaRPr lang="en-US" sz="850" dirty="0"/>
          </a:p>
        </p:txBody>
      </p:sp>
      <p:sp>
        <p:nvSpPr>
          <p:cNvPr id="60" name="Text 58"/>
          <p:cNvSpPr/>
          <p:nvPr/>
        </p:nvSpPr>
        <p:spPr>
          <a:xfrm>
            <a:off x="7187184" y="3813048"/>
            <a:ext cx="144475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9952A"/>
                </a:solidFill>
              </a:rPr>
              <a:t>·  </a:t>
            </a:r>
            <a:pPr indent="0" marL="0">
              <a:buNone/>
            </a:pPr>
            <a:r>
              <a:rPr lang="en-US" sz="850" dirty="0">
                <a:solidFill>
                  <a:srgbClr val="AAAAAA"/>
                </a:solidFill>
              </a:rPr>
              <a:t>Highest marketplace trust</a:t>
            </a:r>
            <a:endParaRPr lang="en-US" sz="850" dirty="0"/>
          </a:p>
        </p:txBody>
      </p:sp>
      <p:sp>
        <p:nvSpPr>
          <p:cNvPr id="61" name="Text 59"/>
          <p:cNvSpPr/>
          <p:nvPr/>
        </p:nvSpPr>
        <p:spPr>
          <a:xfrm>
            <a:off x="7187184" y="4133088"/>
            <a:ext cx="144475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9952A"/>
                </a:solidFill>
              </a:rPr>
              <a:t>·  </a:t>
            </a:r>
            <a:pPr indent="0" marL="0">
              <a:buNone/>
            </a:pPr>
            <a:r>
              <a:rPr lang="en-US" sz="850" dirty="0">
                <a:solidFill>
                  <a:srgbClr val="AAAAAA"/>
                </a:solidFill>
              </a:rPr>
              <a:t>Fast-tracked applications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61616"/>
          </a:solidFill>
          <a:ln w="12700">
            <a:solidFill>
              <a:srgbClr val="16161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2743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9952A"/>
                </a:solidFill>
              </a:rPr>
              <a:t>PROPATI  ·  PRD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0" y="0"/>
            <a:ext cx="8686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66666"/>
                </a:solidFill>
              </a:rPr>
              <a:t>User Flows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804672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Key User Journeys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65760" y="1417320"/>
            <a:ext cx="73152" cy="3520440"/>
          </a:xfrm>
          <a:prstGeom prst="rect">
            <a:avLst/>
          </a:prstGeom>
          <a:solidFill>
            <a:srgbClr val="D4622A"/>
          </a:solidFill>
          <a:ln w="12700">
            <a:solidFill>
              <a:srgbClr val="D4622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41732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4622A"/>
                </a:solidFill>
              </a:rPr>
              <a:t>🏠 Landlord Journey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74320" y="1847088"/>
            <a:ext cx="237744" cy="237744"/>
          </a:xfrm>
          <a:prstGeom prst="ellipse">
            <a:avLst/>
          </a:prstGeom>
          <a:solidFill>
            <a:srgbClr val="D4622A"/>
          </a:solidFill>
          <a:ln w="12700">
            <a:solidFill>
              <a:srgbClr val="D4622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74320" y="1847088"/>
            <a:ext cx="2377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1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594360" y="1810512"/>
            <a:ext cx="3657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DDDDD"/>
                </a:solidFill>
              </a:rPr>
              <a:t>Sign up as Landlord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74320" y="2185416"/>
            <a:ext cx="237744" cy="237744"/>
          </a:xfrm>
          <a:prstGeom prst="ellipse">
            <a:avLst/>
          </a:prstGeom>
          <a:solidFill>
            <a:srgbClr val="D4622A"/>
          </a:solidFill>
          <a:ln w="12700">
            <a:solidFill>
              <a:srgbClr val="D4622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74320" y="2185416"/>
            <a:ext cx="2377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2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594360" y="2148840"/>
            <a:ext cx="3657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DDDDD"/>
                </a:solidFill>
              </a:rPr>
              <a:t>Add Listing (photos + details)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74320" y="2523744"/>
            <a:ext cx="237744" cy="237744"/>
          </a:xfrm>
          <a:prstGeom prst="ellipse">
            <a:avLst/>
          </a:prstGeom>
          <a:solidFill>
            <a:srgbClr val="D4622A"/>
          </a:solidFill>
          <a:ln w="12700">
            <a:solidFill>
              <a:srgbClr val="D4622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74320" y="2523744"/>
            <a:ext cx="2377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3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594360" y="2487168"/>
            <a:ext cx="3657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DDDDD"/>
                </a:solidFill>
              </a:rPr>
              <a:t>Upload to Cloudinary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274320" y="2862072"/>
            <a:ext cx="237744" cy="237744"/>
          </a:xfrm>
          <a:prstGeom prst="ellipse">
            <a:avLst/>
          </a:prstGeom>
          <a:solidFill>
            <a:srgbClr val="D4622A"/>
          </a:solidFill>
          <a:ln w="12700">
            <a:solidFill>
              <a:srgbClr val="D4622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74320" y="2862072"/>
            <a:ext cx="2377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4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594360" y="2825496"/>
            <a:ext cx="3657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DDDDD"/>
                </a:solidFill>
              </a:rPr>
              <a:t>Complete 5-layer verification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274320" y="3200400"/>
            <a:ext cx="237744" cy="237744"/>
          </a:xfrm>
          <a:prstGeom prst="ellipse">
            <a:avLst/>
          </a:prstGeom>
          <a:solidFill>
            <a:srgbClr val="D4622A"/>
          </a:solidFill>
          <a:ln w="12700">
            <a:solidFill>
              <a:srgbClr val="D4622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74320" y="3200400"/>
            <a:ext cx="2377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5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594360" y="3163824"/>
            <a:ext cx="3657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DDDDD"/>
                </a:solidFill>
              </a:rPr>
              <a:t>Listing goes live on marketplace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274320" y="3538728"/>
            <a:ext cx="237744" cy="237744"/>
          </a:xfrm>
          <a:prstGeom prst="ellipse">
            <a:avLst/>
          </a:prstGeom>
          <a:solidFill>
            <a:srgbClr val="D4622A"/>
          </a:solidFill>
          <a:ln w="12700">
            <a:solidFill>
              <a:srgbClr val="D4622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74320" y="3538728"/>
            <a:ext cx="2377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6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594360" y="3502152"/>
            <a:ext cx="3657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DDDDD"/>
                </a:solidFill>
              </a:rPr>
              <a:t>Receive tenant applications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274320" y="3877056"/>
            <a:ext cx="237744" cy="237744"/>
          </a:xfrm>
          <a:prstGeom prst="ellipse">
            <a:avLst/>
          </a:prstGeom>
          <a:solidFill>
            <a:srgbClr val="D4622A">
              <a:alpha val="40000"/>
            </a:srgbClr>
          </a:solidFill>
          <a:ln w="12700">
            <a:solidFill>
              <a:srgbClr val="D4622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74320" y="3877056"/>
            <a:ext cx="2377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7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594360" y="3840480"/>
            <a:ext cx="3657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888"/>
                </a:solidFill>
              </a:rPr>
              <a:t>Screening call via Messages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274320" y="4215384"/>
            <a:ext cx="237744" cy="237744"/>
          </a:xfrm>
          <a:prstGeom prst="ellipse">
            <a:avLst/>
          </a:prstGeom>
          <a:solidFill>
            <a:srgbClr val="D4622A">
              <a:alpha val="40000"/>
            </a:srgbClr>
          </a:solidFill>
          <a:ln w="12700">
            <a:solidFill>
              <a:srgbClr val="D4622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74320" y="4215384"/>
            <a:ext cx="2377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8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594360" y="4178808"/>
            <a:ext cx="3657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888"/>
                </a:solidFill>
              </a:rPr>
              <a:t>Approve tenant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274320" y="4553712"/>
            <a:ext cx="237744" cy="237744"/>
          </a:xfrm>
          <a:prstGeom prst="ellipse">
            <a:avLst/>
          </a:prstGeom>
          <a:solidFill>
            <a:srgbClr val="D4622A">
              <a:alpha val="40000"/>
            </a:srgbClr>
          </a:solidFill>
          <a:ln w="12700">
            <a:solidFill>
              <a:srgbClr val="D4622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274320" y="4553712"/>
            <a:ext cx="2377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9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594360" y="4517136"/>
            <a:ext cx="3657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888"/>
                </a:solidFill>
              </a:rPr>
              <a:t>Digital agreement generated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274320" y="4892040"/>
            <a:ext cx="237744" cy="237744"/>
          </a:xfrm>
          <a:prstGeom prst="ellipse">
            <a:avLst/>
          </a:prstGeom>
          <a:solidFill>
            <a:srgbClr val="D4622A">
              <a:alpha val="40000"/>
            </a:srgbClr>
          </a:solidFill>
          <a:ln w="12700">
            <a:solidFill>
              <a:srgbClr val="D4622A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74320" y="4892040"/>
            <a:ext cx="2377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10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594360" y="4855464"/>
            <a:ext cx="3657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888"/>
                </a:solidFill>
              </a:rPr>
              <a:t>Collect rent via Escrow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4754880" y="1417320"/>
            <a:ext cx="73152" cy="3520440"/>
          </a:xfrm>
          <a:prstGeom prst="rect">
            <a:avLst/>
          </a:prstGeom>
          <a:solidFill>
            <a:srgbClr val="0E7C6A"/>
          </a:solidFill>
          <a:ln w="12700">
            <a:solidFill>
              <a:srgbClr val="0E7C6A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937760" y="141732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7C6A"/>
                </a:solidFill>
              </a:rPr>
              <a:t>👤 Tenant Journey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4663440" y="1847088"/>
            <a:ext cx="237744" cy="237744"/>
          </a:xfrm>
          <a:prstGeom prst="ellipse">
            <a:avLst/>
          </a:prstGeom>
          <a:solidFill>
            <a:srgbClr val="0E7C6A"/>
          </a:solidFill>
          <a:ln w="12700">
            <a:solidFill>
              <a:srgbClr val="0E7C6A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663440" y="1847088"/>
            <a:ext cx="2377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1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4983480" y="1810512"/>
            <a:ext cx="37490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DDDDD"/>
                </a:solidFill>
              </a:rPr>
              <a:t>Sign up as Tenant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4663440" y="2185416"/>
            <a:ext cx="237744" cy="237744"/>
          </a:xfrm>
          <a:prstGeom prst="ellipse">
            <a:avLst/>
          </a:prstGeom>
          <a:solidFill>
            <a:srgbClr val="0E7C6A"/>
          </a:solidFill>
          <a:ln w="12700">
            <a:solidFill>
              <a:srgbClr val="0E7C6A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663440" y="2185416"/>
            <a:ext cx="2377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2</a:t>
            </a:r>
            <a:endParaRPr lang="en-US" sz="800" dirty="0"/>
          </a:p>
        </p:txBody>
      </p:sp>
      <p:sp>
        <p:nvSpPr>
          <p:cNvPr id="45" name="Text 43"/>
          <p:cNvSpPr/>
          <p:nvPr/>
        </p:nvSpPr>
        <p:spPr>
          <a:xfrm>
            <a:off x="4983480" y="2148840"/>
            <a:ext cx="37490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DDDDD"/>
                </a:solidFill>
              </a:rPr>
              <a:t>Choose purpose (Rent/Buy/Short-let)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4663440" y="2523744"/>
            <a:ext cx="237744" cy="237744"/>
          </a:xfrm>
          <a:prstGeom prst="ellipse">
            <a:avLst/>
          </a:prstGeom>
          <a:solidFill>
            <a:srgbClr val="0E7C6A"/>
          </a:solidFill>
          <a:ln w="12700">
            <a:solidFill>
              <a:srgbClr val="0E7C6A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663440" y="2523744"/>
            <a:ext cx="2377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3</a:t>
            </a:r>
            <a:endParaRPr lang="en-US" sz="800" dirty="0"/>
          </a:p>
        </p:txBody>
      </p:sp>
      <p:sp>
        <p:nvSpPr>
          <p:cNvPr id="48" name="Text 46"/>
          <p:cNvSpPr/>
          <p:nvPr/>
        </p:nvSpPr>
        <p:spPr>
          <a:xfrm>
            <a:off x="4983480" y="2487168"/>
            <a:ext cx="37490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DDDDD"/>
                </a:solidFill>
              </a:rPr>
              <a:t>Browse verified marketplace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4663440" y="2862072"/>
            <a:ext cx="237744" cy="237744"/>
          </a:xfrm>
          <a:prstGeom prst="ellipse">
            <a:avLst/>
          </a:prstGeom>
          <a:solidFill>
            <a:srgbClr val="0E7C6A"/>
          </a:solidFill>
          <a:ln w="12700">
            <a:solidFill>
              <a:srgbClr val="0E7C6A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4663440" y="2862072"/>
            <a:ext cx="2377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4</a:t>
            </a:r>
            <a:endParaRPr lang="en-US" sz="800" dirty="0"/>
          </a:p>
        </p:txBody>
      </p:sp>
      <p:sp>
        <p:nvSpPr>
          <p:cNvPr id="51" name="Text 49"/>
          <p:cNvSpPr/>
          <p:nvPr/>
        </p:nvSpPr>
        <p:spPr>
          <a:xfrm>
            <a:off x="4983480" y="2825496"/>
            <a:ext cx="37490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DDDDD"/>
                </a:solidFill>
              </a:rPr>
              <a:t>Filter by type, area, price</a:t>
            </a:r>
            <a:endParaRPr lang="en-US" sz="1000" dirty="0"/>
          </a:p>
        </p:txBody>
      </p:sp>
      <p:sp>
        <p:nvSpPr>
          <p:cNvPr id="52" name="Shape 50"/>
          <p:cNvSpPr/>
          <p:nvPr/>
        </p:nvSpPr>
        <p:spPr>
          <a:xfrm>
            <a:off x="4663440" y="3200400"/>
            <a:ext cx="237744" cy="237744"/>
          </a:xfrm>
          <a:prstGeom prst="ellipse">
            <a:avLst/>
          </a:prstGeom>
          <a:solidFill>
            <a:srgbClr val="0E7C6A"/>
          </a:solidFill>
          <a:ln w="12700">
            <a:solidFill>
              <a:srgbClr val="0E7C6A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4663440" y="3200400"/>
            <a:ext cx="2377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5</a:t>
            </a:r>
            <a:endParaRPr lang="en-US" sz="800" dirty="0"/>
          </a:p>
        </p:txBody>
      </p:sp>
      <p:sp>
        <p:nvSpPr>
          <p:cNvPr id="54" name="Text 52"/>
          <p:cNvSpPr/>
          <p:nvPr/>
        </p:nvSpPr>
        <p:spPr>
          <a:xfrm>
            <a:off x="4983480" y="3163824"/>
            <a:ext cx="37490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DDDDD"/>
                </a:solidFill>
              </a:rPr>
              <a:t>Click Apply &amp; Message</a:t>
            </a:r>
            <a:endParaRPr lang="en-US" sz="1000" dirty="0"/>
          </a:p>
        </p:txBody>
      </p:sp>
      <p:sp>
        <p:nvSpPr>
          <p:cNvPr id="55" name="Shape 53"/>
          <p:cNvSpPr/>
          <p:nvPr/>
        </p:nvSpPr>
        <p:spPr>
          <a:xfrm>
            <a:off x="4663440" y="3538728"/>
            <a:ext cx="237744" cy="237744"/>
          </a:xfrm>
          <a:prstGeom prst="ellipse">
            <a:avLst/>
          </a:prstGeom>
          <a:solidFill>
            <a:srgbClr val="0E7C6A"/>
          </a:solidFill>
          <a:ln w="12700">
            <a:solidFill>
              <a:srgbClr val="0E7C6A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4663440" y="3538728"/>
            <a:ext cx="2377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6</a:t>
            </a:r>
            <a:endParaRPr lang="en-US" sz="800" dirty="0"/>
          </a:p>
        </p:txBody>
      </p:sp>
      <p:sp>
        <p:nvSpPr>
          <p:cNvPr id="57" name="Text 55"/>
          <p:cNvSpPr/>
          <p:nvPr/>
        </p:nvSpPr>
        <p:spPr>
          <a:xfrm>
            <a:off x="4983480" y="3502152"/>
            <a:ext cx="37490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DDDDD"/>
                </a:solidFill>
              </a:rPr>
              <a:t>Conversation opens with landlord</a:t>
            </a:r>
            <a:endParaRPr lang="en-US" sz="1000" dirty="0"/>
          </a:p>
        </p:txBody>
      </p:sp>
      <p:sp>
        <p:nvSpPr>
          <p:cNvPr id="58" name="Shape 56"/>
          <p:cNvSpPr/>
          <p:nvPr/>
        </p:nvSpPr>
        <p:spPr>
          <a:xfrm>
            <a:off x="4663440" y="3877056"/>
            <a:ext cx="237744" cy="237744"/>
          </a:xfrm>
          <a:prstGeom prst="ellipse">
            <a:avLst/>
          </a:prstGeom>
          <a:solidFill>
            <a:srgbClr val="0E7C6A">
              <a:alpha val="40000"/>
            </a:srgbClr>
          </a:solidFill>
          <a:ln w="12700">
            <a:solidFill>
              <a:srgbClr val="0E7C6A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4663440" y="3877056"/>
            <a:ext cx="2377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7</a:t>
            </a:r>
            <a:endParaRPr lang="en-US" sz="800" dirty="0"/>
          </a:p>
        </p:txBody>
      </p:sp>
      <p:sp>
        <p:nvSpPr>
          <p:cNvPr id="60" name="Text 58"/>
          <p:cNvSpPr/>
          <p:nvPr/>
        </p:nvSpPr>
        <p:spPr>
          <a:xfrm>
            <a:off x="4983480" y="3840480"/>
            <a:ext cx="37490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888"/>
                </a:solidFill>
              </a:rPr>
              <a:t>Attend screening call</a:t>
            </a:r>
            <a:endParaRPr lang="en-US" sz="1000" dirty="0"/>
          </a:p>
        </p:txBody>
      </p:sp>
      <p:sp>
        <p:nvSpPr>
          <p:cNvPr id="61" name="Shape 59"/>
          <p:cNvSpPr/>
          <p:nvPr/>
        </p:nvSpPr>
        <p:spPr>
          <a:xfrm>
            <a:off x="4663440" y="4215384"/>
            <a:ext cx="237744" cy="237744"/>
          </a:xfrm>
          <a:prstGeom prst="ellipse">
            <a:avLst/>
          </a:prstGeom>
          <a:solidFill>
            <a:srgbClr val="0E7C6A">
              <a:alpha val="40000"/>
            </a:srgbClr>
          </a:solidFill>
          <a:ln w="12700">
            <a:solidFill>
              <a:srgbClr val="0E7C6A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4663440" y="4215384"/>
            <a:ext cx="2377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8</a:t>
            </a:r>
            <a:endParaRPr lang="en-US" sz="800" dirty="0"/>
          </a:p>
        </p:txBody>
      </p:sp>
      <p:sp>
        <p:nvSpPr>
          <p:cNvPr id="63" name="Text 61"/>
          <p:cNvSpPr/>
          <p:nvPr/>
        </p:nvSpPr>
        <p:spPr>
          <a:xfrm>
            <a:off x="4983480" y="4178808"/>
            <a:ext cx="37490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888"/>
                </a:solidFill>
              </a:rPr>
              <a:t>Sign digital agreement</a:t>
            </a:r>
            <a:endParaRPr lang="en-US" sz="1000" dirty="0"/>
          </a:p>
        </p:txBody>
      </p:sp>
      <p:sp>
        <p:nvSpPr>
          <p:cNvPr id="64" name="Shape 62"/>
          <p:cNvSpPr/>
          <p:nvPr/>
        </p:nvSpPr>
        <p:spPr>
          <a:xfrm>
            <a:off x="4663440" y="4553712"/>
            <a:ext cx="237744" cy="237744"/>
          </a:xfrm>
          <a:prstGeom prst="ellipse">
            <a:avLst/>
          </a:prstGeom>
          <a:solidFill>
            <a:srgbClr val="0E7C6A">
              <a:alpha val="40000"/>
            </a:srgbClr>
          </a:solidFill>
          <a:ln w="12700">
            <a:solidFill>
              <a:srgbClr val="0E7C6A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4663440" y="4553712"/>
            <a:ext cx="2377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9</a:t>
            </a:r>
            <a:endParaRPr lang="en-US" sz="800" dirty="0"/>
          </a:p>
        </p:txBody>
      </p:sp>
      <p:sp>
        <p:nvSpPr>
          <p:cNvPr id="66" name="Text 64"/>
          <p:cNvSpPr/>
          <p:nvPr/>
        </p:nvSpPr>
        <p:spPr>
          <a:xfrm>
            <a:off x="4983480" y="4517136"/>
            <a:ext cx="37490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888"/>
                </a:solidFill>
              </a:rPr>
              <a:t>Pay deposit via Escrow</a:t>
            </a:r>
            <a:endParaRPr lang="en-US" sz="1000" dirty="0"/>
          </a:p>
        </p:txBody>
      </p:sp>
      <p:sp>
        <p:nvSpPr>
          <p:cNvPr id="67" name="Shape 65"/>
          <p:cNvSpPr/>
          <p:nvPr/>
        </p:nvSpPr>
        <p:spPr>
          <a:xfrm>
            <a:off x="4663440" y="4892040"/>
            <a:ext cx="237744" cy="237744"/>
          </a:xfrm>
          <a:prstGeom prst="ellipse">
            <a:avLst/>
          </a:prstGeom>
          <a:solidFill>
            <a:srgbClr val="0E7C6A">
              <a:alpha val="40000"/>
            </a:srgbClr>
          </a:solidFill>
          <a:ln w="12700">
            <a:solidFill>
              <a:srgbClr val="0E7C6A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4663440" y="4892040"/>
            <a:ext cx="2377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10</a:t>
            </a:r>
            <a:endParaRPr lang="en-US" sz="800" dirty="0"/>
          </a:p>
        </p:txBody>
      </p:sp>
      <p:sp>
        <p:nvSpPr>
          <p:cNvPr id="69" name="Text 67"/>
          <p:cNvSpPr/>
          <p:nvPr/>
        </p:nvSpPr>
        <p:spPr>
          <a:xfrm>
            <a:off x="4983480" y="4855464"/>
            <a:ext cx="37490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888"/>
                </a:solidFill>
              </a:rPr>
              <a:t>Move in 🎉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3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2743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9952A"/>
                </a:solidFill>
              </a:rPr>
              <a:t>PROPATI  ·  PRD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0" y="0"/>
            <a:ext cx="8686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88888"/>
                </a:solidFill>
              </a:rPr>
              <a:t>Technical Architecture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804672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1A"/>
                </a:solidFill>
              </a:rPr>
              <a:t>Tech Stack &amp; Infrastructure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65760" y="1417320"/>
            <a:ext cx="1993392" cy="3520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9E5D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1417320"/>
            <a:ext cx="1993392" cy="54864"/>
          </a:xfrm>
          <a:prstGeom prst="rect">
            <a:avLst/>
          </a:prstGeom>
          <a:solidFill>
            <a:srgbClr val="0E7C6A"/>
          </a:solidFill>
          <a:ln w="12700">
            <a:solidFill>
              <a:srgbClr val="0E7C6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1508760"/>
            <a:ext cx="199339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E7C6A"/>
                </a:solidFill>
              </a:rPr>
              <a:t>Frontend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1920240"/>
            <a:ext cx="1810512" cy="822960"/>
          </a:xfrm>
          <a:prstGeom prst="rect">
            <a:avLst/>
          </a:prstGeom>
          <a:solidFill>
            <a:srgbClr val="F9F7F4"/>
          </a:solidFill>
          <a:ln w="12700">
            <a:solidFill>
              <a:srgbClr val="E9E5D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1965960"/>
            <a:ext cx="17190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1A1A"/>
                </a:solidFill>
              </a:rPr>
              <a:t>HTML/CSS/JS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02920" y="2212848"/>
            <a:ext cx="1719072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374151"/>
                </a:solidFill>
              </a:rPr>
              <a:t>Single-file SPA — no build step, deploys to Vercel in &lt; 60s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457200" y="2834640"/>
            <a:ext cx="1810512" cy="822960"/>
          </a:xfrm>
          <a:prstGeom prst="rect">
            <a:avLst/>
          </a:prstGeom>
          <a:solidFill>
            <a:srgbClr val="F9F7F4"/>
          </a:solidFill>
          <a:ln w="12700">
            <a:solidFill>
              <a:srgbClr val="E9E5D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2920" y="2880360"/>
            <a:ext cx="17190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1A1A"/>
                </a:solidFill>
              </a:rPr>
              <a:t>Vanilla JS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02920" y="3127248"/>
            <a:ext cx="1719072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374151"/>
                </a:solidFill>
              </a:rPr>
              <a:t>State machine with render() function — no React overhead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457200" y="3749040"/>
            <a:ext cx="1810512" cy="822960"/>
          </a:xfrm>
          <a:prstGeom prst="rect">
            <a:avLst/>
          </a:prstGeom>
          <a:solidFill>
            <a:srgbClr val="F9F7F4"/>
          </a:solidFill>
          <a:ln w="12700">
            <a:solidFill>
              <a:srgbClr val="E9E5D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2920" y="3794760"/>
            <a:ext cx="17190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1A1A"/>
                </a:solidFill>
              </a:rPr>
              <a:t>PptxGenJS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02920" y="4041648"/>
            <a:ext cx="1719072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374151"/>
                </a:solidFill>
              </a:rPr>
              <a:t>Document generation for agreements and reports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2514600" y="1417320"/>
            <a:ext cx="1993392" cy="3520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9E5D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2514600" y="1417320"/>
            <a:ext cx="1993392" cy="54864"/>
          </a:xfrm>
          <a:prstGeom prst="rect">
            <a:avLst/>
          </a:prstGeom>
          <a:solidFill>
            <a:srgbClr val="D4622A"/>
          </a:solidFill>
          <a:ln w="12700">
            <a:solidFill>
              <a:srgbClr val="D4622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514600" y="1508760"/>
            <a:ext cx="199339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4622A"/>
                </a:solidFill>
              </a:rPr>
              <a:t>Backend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2606040" y="1920240"/>
            <a:ext cx="1810512" cy="822960"/>
          </a:xfrm>
          <a:prstGeom prst="rect">
            <a:avLst/>
          </a:prstGeom>
          <a:solidFill>
            <a:srgbClr val="F9F7F4"/>
          </a:solidFill>
          <a:ln w="12700">
            <a:solidFill>
              <a:srgbClr val="E9E5D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651760" y="1965960"/>
            <a:ext cx="17190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1A1A"/>
                </a:solidFill>
              </a:rPr>
              <a:t>Node.js + Express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2651760" y="2212848"/>
            <a:ext cx="1719072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374151"/>
                </a:solidFill>
              </a:rPr>
              <a:t>REST API on Railway — auto-deploy from GitHub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2606040" y="2834640"/>
            <a:ext cx="1810512" cy="822960"/>
          </a:xfrm>
          <a:prstGeom prst="rect">
            <a:avLst/>
          </a:prstGeom>
          <a:solidFill>
            <a:srgbClr val="F9F7F4"/>
          </a:solidFill>
          <a:ln w="12700">
            <a:solidFill>
              <a:srgbClr val="E9E5D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651760" y="2880360"/>
            <a:ext cx="17190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1A1A"/>
                </a:solidFill>
              </a:rPr>
              <a:t>PostgreSQL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2651760" y="3127248"/>
            <a:ext cx="1719072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374151"/>
                </a:solidFill>
              </a:rPr>
              <a:t>Supabase — managed DB, real-time capable, row-level security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2606040" y="3749040"/>
            <a:ext cx="1810512" cy="822960"/>
          </a:xfrm>
          <a:prstGeom prst="rect">
            <a:avLst/>
          </a:prstGeom>
          <a:solidFill>
            <a:srgbClr val="F9F7F4"/>
          </a:solidFill>
          <a:ln w="12700">
            <a:solidFill>
              <a:srgbClr val="E9E5D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651760" y="3794760"/>
            <a:ext cx="17190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1A1A"/>
                </a:solidFill>
              </a:rPr>
              <a:t>Cloudinary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2651760" y="4041648"/>
            <a:ext cx="1719072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374151"/>
                </a:solidFill>
              </a:rPr>
              <a:t>Image upload, resize, optimise — all property photos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4663440" y="1417320"/>
            <a:ext cx="1993392" cy="3520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9E5D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663440" y="1417320"/>
            <a:ext cx="1993392" cy="54864"/>
          </a:xfrm>
          <a:prstGeom prst="rect">
            <a:avLst/>
          </a:prstGeom>
          <a:solidFill>
            <a:srgbClr val="C9952A"/>
          </a:solidFill>
          <a:ln w="12700">
            <a:solidFill>
              <a:srgbClr val="C9952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663440" y="1508760"/>
            <a:ext cx="199339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9952A"/>
                </a:solidFill>
              </a:rPr>
              <a:t>Security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4754880" y="1920240"/>
            <a:ext cx="1810512" cy="822960"/>
          </a:xfrm>
          <a:prstGeom prst="rect">
            <a:avLst/>
          </a:prstGeom>
          <a:solidFill>
            <a:srgbClr val="F9F7F4"/>
          </a:solidFill>
          <a:ln w="12700">
            <a:solidFill>
              <a:srgbClr val="E9E5DC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800600" y="1965960"/>
            <a:ext cx="17190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1A1A"/>
                </a:solidFill>
              </a:rPr>
              <a:t>JWT Auth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4800600" y="2212848"/>
            <a:ext cx="1719072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374151"/>
                </a:solidFill>
              </a:rPr>
              <a:t>Access token (15min) + Refresh token (7d) rotation</a:t>
            </a:r>
            <a:endParaRPr lang="en-US" sz="800" dirty="0"/>
          </a:p>
        </p:txBody>
      </p:sp>
      <p:sp>
        <p:nvSpPr>
          <p:cNvPr id="36" name="Shape 34"/>
          <p:cNvSpPr/>
          <p:nvPr/>
        </p:nvSpPr>
        <p:spPr>
          <a:xfrm>
            <a:off x="4754880" y="2834640"/>
            <a:ext cx="1810512" cy="822960"/>
          </a:xfrm>
          <a:prstGeom prst="rect">
            <a:avLst/>
          </a:prstGeom>
          <a:solidFill>
            <a:srgbClr val="F9F7F4"/>
          </a:solidFill>
          <a:ln w="12700">
            <a:solidFill>
              <a:srgbClr val="E9E5DC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800600" y="2880360"/>
            <a:ext cx="17190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1A1A"/>
                </a:solidFill>
              </a:rPr>
              <a:t>AES-256-GCM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4800600" y="3127248"/>
            <a:ext cx="1719072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374151"/>
                </a:solidFill>
              </a:rPr>
              <a:t>Field-level encryption for sensitive PII (NIN, ID numbers)</a:t>
            </a:r>
            <a:endParaRPr lang="en-US" sz="800" dirty="0"/>
          </a:p>
        </p:txBody>
      </p:sp>
      <p:sp>
        <p:nvSpPr>
          <p:cNvPr id="39" name="Shape 37"/>
          <p:cNvSpPr/>
          <p:nvPr/>
        </p:nvSpPr>
        <p:spPr>
          <a:xfrm>
            <a:off x="4754880" y="3749040"/>
            <a:ext cx="1810512" cy="822960"/>
          </a:xfrm>
          <a:prstGeom prst="rect">
            <a:avLst/>
          </a:prstGeom>
          <a:solidFill>
            <a:srgbClr val="F9F7F4"/>
          </a:solidFill>
          <a:ln w="12700">
            <a:solidFill>
              <a:srgbClr val="E9E5DC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800600" y="3794760"/>
            <a:ext cx="17190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1A1A"/>
                </a:solidFill>
              </a:rPr>
              <a:t>Helmet + HPP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4800600" y="4041648"/>
            <a:ext cx="1719072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374151"/>
                </a:solidFill>
              </a:rPr>
              <a:t>HTTP security headers, parameter pollution prevention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6812280" y="1417320"/>
            <a:ext cx="1993392" cy="3520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9E5D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43" name="Shape 41"/>
          <p:cNvSpPr/>
          <p:nvPr/>
        </p:nvSpPr>
        <p:spPr>
          <a:xfrm>
            <a:off x="6812280" y="1417320"/>
            <a:ext cx="1993392" cy="54864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812280" y="1508760"/>
            <a:ext cx="199339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A855F7"/>
                </a:solidFill>
              </a:rPr>
              <a:t>Payments</a:t>
            </a:r>
            <a:endParaRPr lang="en-US" sz="1200" dirty="0"/>
          </a:p>
        </p:txBody>
      </p:sp>
      <p:sp>
        <p:nvSpPr>
          <p:cNvPr id="45" name="Shape 43"/>
          <p:cNvSpPr/>
          <p:nvPr/>
        </p:nvSpPr>
        <p:spPr>
          <a:xfrm>
            <a:off x="6903720" y="1920240"/>
            <a:ext cx="1810512" cy="822960"/>
          </a:xfrm>
          <a:prstGeom prst="rect">
            <a:avLst/>
          </a:prstGeom>
          <a:solidFill>
            <a:srgbClr val="F9F7F4"/>
          </a:solidFill>
          <a:ln w="12700">
            <a:solidFill>
              <a:srgbClr val="E9E5DC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949440" y="1965960"/>
            <a:ext cx="17190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1A1A"/>
                </a:solidFill>
              </a:rPr>
              <a:t>Paystack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6949440" y="2212848"/>
            <a:ext cx="1719072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374151"/>
                </a:solidFill>
              </a:rPr>
              <a:t>Nigerian payment gateway — cards, USSD, bank transfer</a:t>
            </a:r>
            <a:endParaRPr lang="en-US" sz="800" dirty="0"/>
          </a:p>
        </p:txBody>
      </p:sp>
      <p:sp>
        <p:nvSpPr>
          <p:cNvPr id="48" name="Shape 46"/>
          <p:cNvSpPr/>
          <p:nvPr/>
        </p:nvSpPr>
        <p:spPr>
          <a:xfrm>
            <a:off x="6903720" y="2834640"/>
            <a:ext cx="1810512" cy="822960"/>
          </a:xfrm>
          <a:prstGeom prst="rect">
            <a:avLst/>
          </a:prstGeom>
          <a:solidFill>
            <a:srgbClr val="F9F7F4"/>
          </a:solidFill>
          <a:ln w="12700">
            <a:solidFill>
              <a:srgbClr val="E9E5DC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949440" y="2880360"/>
            <a:ext cx="17190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1A1A"/>
                </a:solidFill>
              </a:rPr>
              <a:t>Escrow logic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6949440" y="3127248"/>
            <a:ext cx="1719072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374151"/>
                </a:solidFill>
              </a:rPr>
              <a:t>Funds held until landlord confirms move-in</a:t>
            </a:r>
            <a:endParaRPr lang="en-US" sz="800" dirty="0"/>
          </a:p>
        </p:txBody>
      </p:sp>
      <p:sp>
        <p:nvSpPr>
          <p:cNvPr id="51" name="Shape 49"/>
          <p:cNvSpPr/>
          <p:nvPr/>
        </p:nvSpPr>
        <p:spPr>
          <a:xfrm>
            <a:off x="6903720" y="3749040"/>
            <a:ext cx="1810512" cy="822960"/>
          </a:xfrm>
          <a:prstGeom prst="rect">
            <a:avLst/>
          </a:prstGeom>
          <a:solidFill>
            <a:srgbClr val="F9F7F4"/>
          </a:solidFill>
          <a:ln w="12700">
            <a:solidFill>
              <a:srgbClr val="E9E5DC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6949440" y="3794760"/>
            <a:ext cx="17190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1A1A"/>
                </a:solidFill>
              </a:rPr>
              <a:t>Webhooks</a:t>
            </a:r>
            <a:endParaRPr lang="en-US" sz="1000" dirty="0"/>
          </a:p>
        </p:txBody>
      </p:sp>
      <p:sp>
        <p:nvSpPr>
          <p:cNvPr id="53" name="Text 51"/>
          <p:cNvSpPr/>
          <p:nvPr/>
        </p:nvSpPr>
        <p:spPr>
          <a:xfrm>
            <a:off x="6949440" y="4041648"/>
            <a:ext cx="1719072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374151"/>
                </a:solidFill>
              </a:rPr>
              <a:t>Real-time payment event callbacks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61616"/>
          </a:solidFill>
          <a:ln w="12700">
            <a:solidFill>
              <a:srgbClr val="16161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2743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9952A"/>
                </a:solidFill>
              </a:rPr>
              <a:t>PROPATI  ·  PRD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0" y="0"/>
            <a:ext cx="8686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66666"/>
                </a:solidFill>
              </a:rPr>
              <a:t>Roadmap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804672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Build Roadmap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457200" y="1481328"/>
            <a:ext cx="8229600" cy="54864"/>
          </a:xfrm>
          <a:prstGeom prst="rect">
            <a:avLst/>
          </a:prstGeom>
          <a:solidFill>
            <a:srgbClr val="2A2A2A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88720" y="1353312"/>
            <a:ext cx="292608" cy="292608"/>
          </a:xfrm>
          <a:prstGeom prst="ellipse">
            <a:avLst/>
          </a:prstGeom>
          <a:solidFill>
            <a:srgbClr val="2AAD72"/>
          </a:solidFill>
          <a:ln w="12700">
            <a:solidFill>
              <a:srgbClr val="2AAD7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335024" y="1645920"/>
            <a:ext cx="0" cy="320040"/>
          </a:xfrm>
          <a:prstGeom prst="line">
            <a:avLst/>
          </a:prstGeom>
          <a:noFill/>
          <a:ln w="19050">
            <a:solidFill>
              <a:srgbClr val="2AAD7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1965960"/>
            <a:ext cx="1920240" cy="2971800"/>
          </a:xfrm>
          <a:prstGeom prst="rect">
            <a:avLst/>
          </a:prstGeom>
          <a:solidFill>
            <a:srgbClr val="1F1F1F"/>
          </a:solidFill>
          <a:ln w="12700">
            <a:solidFill>
              <a:srgbClr val="2AAD7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57200" y="1965960"/>
            <a:ext cx="1920240" cy="54864"/>
          </a:xfrm>
          <a:prstGeom prst="rect">
            <a:avLst/>
          </a:prstGeom>
          <a:solidFill>
            <a:srgbClr val="2AAD72"/>
          </a:solidFill>
          <a:ln w="12700">
            <a:solidFill>
              <a:srgbClr val="2AAD7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30352" y="2029968"/>
            <a:ext cx="177393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AAD72"/>
                </a:solidFill>
              </a:rPr>
              <a:t>Phase 1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2AAD72"/>
                </a:solidFill>
              </a:rPr>
              <a:t>COMPLETE ✅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30352" y="2532888"/>
            <a:ext cx="177393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66666"/>
                </a:solidFill>
              </a:rPr>
              <a:t>Jan–Mar 2026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530352" y="2798064"/>
            <a:ext cx="177393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AAD72"/>
                </a:solidFill>
              </a:rPr>
              <a:t>✓  </a:t>
            </a:r>
            <a:pPr indent="0" marL="0">
              <a:buNone/>
            </a:pPr>
            <a:r>
              <a:rPr lang="en-US" sz="850" dirty="0">
                <a:solidFill>
                  <a:srgbClr val="CCCCCC"/>
                </a:solidFill>
              </a:rPr>
              <a:t>Auth system (signup/login)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530352" y="3136392"/>
            <a:ext cx="177393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AAD72"/>
                </a:solidFill>
              </a:rPr>
              <a:t>✓  </a:t>
            </a:r>
            <a:pPr indent="0" marL="0">
              <a:buNone/>
            </a:pPr>
            <a:r>
              <a:rPr lang="en-US" sz="850" dirty="0">
                <a:solidFill>
                  <a:srgbClr val="CCCCCC"/>
                </a:solidFill>
              </a:rPr>
              <a:t>Property listing + photo upload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530352" y="3474720"/>
            <a:ext cx="177393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AAD72"/>
                </a:solidFill>
              </a:rPr>
              <a:t>✓  </a:t>
            </a:r>
            <a:pPr indent="0" marL="0">
              <a:buNone/>
            </a:pPr>
            <a:r>
              <a:rPr lang="en-US" sz="850" dirty="0">
                <a:solidFill>
                  <a:srgbClr val="CCCCCC"/>
                </a:solidFill>
              </a:rPr>
              <a:t>Marketplace with filters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530352" y="3813048"/>
            <a:ext cx="177393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AAD72"/>
                </a:solidFill>
              </a:rPr>
              <a:t>✓  </a:t>
            </a:r>
            <a:pPr indent="0" marL="0">
              <a:buNone/>
            </a:pPr>
            <a:r>
              <a:rPr lang="en-US" sz="850" dirty="0">
                <a:solidFill>
                  <a:srgbClr val="CCCCCC"/>
                </a:solidFill>
              </a:rPr>
              <a:t>5-step verification wizard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530352" y="4151376"/>
            <a:ext cx="177393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AAD72"/>
                </a:solidFill>
              </a:rPr>
              <a:t>✓  </a:t>
            </a:r>
            <a:pPr indent="0" marL="0">
              <a:buNone/>
            </a:pPr>
            <a:r>
              <a:rPr lang="en-US" sz="850" dirty="0">
                <a:solidFill>
                  <a:srgbClr val="CCCCCC"/>
                </a:solidFill>
              </a:rPr>
              <a:t>Messages (landlord ↔ tenant)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530352" y="4489704"/>
            <a:ext cx="177393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AAD72"/>
                </a:solidFill>
              </a:rPr>
              <a:t>✓  </a:t>
            </a:r>
            <a:pPr indent="0" marL="0">
              <a:buNone/>
            </a:pPr>
            <a:r>
              <a:rPr lang="en-US" sz="850" dirty="0">
                <a:solidFill>
                  <a:srgbClr val="CCCCCC"/>
                </a:solidFill>
              </a:rPr>
              <a:t>All 4 role dashboards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246120" y="1353312"/>
            <a:ext cx="292608" cy="292608"/>
          </a:xfrm>
          <a:prstGeom prst="ellipse">
            <a:avLst/>
          </a:prstGeom>
          <a:solidFill>
            <a:srgbClr val="E0B04A"/>
          </a:solidFill>
          <a:ln w="12700">
            <a:solidFill>
              <a:srgbClr val="E0B04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392424" y="1645920"/>
            <a:ext cx="0" cy="320040"/>
          </a:xfrm>
          <a:prstGeom prst="line">
            <a:avLst/>
          </a:prstGeom>
          <a:noFill/>
          <a:ln w="19050">
            <a:solidFill>
              <a:srgbClr val="E0B04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514600" y="1965960"/>
            <a:ext cx="1920240" cy="2971800"/>
          </a:xfrm>
          <a:prstGeom prst="rect">
            <a:avLst/>
          </a:prstGeom>
          <a:solidFill>
            <a:srgbClr val="1F1F1F"/>
          </a:solidFill>
          <a:ln w="12700">
            <a:solidFill>
              <a:srgbClr val="2A2A2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2514600" y="1965960"/>
            <a:ext cx="1920240" cy="54864"/>
          </a:xfrm>
          <a:prstGeom prst="rect">
            <a:avLst/>
          </a:prstGeom>
          <a:solidFill>
            <a:srgbClr val="E0B04A"/>
          </a:solidFill>
          <a:ln w="12700">
            <a:solidFill>
              <a:srgbClr val="E0B04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587752" y="2029968"/>
            <a:ext cx="177393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0B04A"/>
                </a:solidFill>
              </a:rPr>
              <a:t>Phase 2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E0B04A"/>
                </a:solidFill>
              </a:rPr>
              <a:t>IN PROGRESS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2587752" y="2532888"/>
            <a:ext cx="177393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66666"/>
                </a:solidFill>
              </a:rPr>
              <a:t>Mar–Apr 2026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2587752" y="2798064"/>
            <a:ext cx="177393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E0B04A"/>
                </a:solidFill>
              </a:rPr>
              <a:t>·  </a:t>
            </a:r>
            <a:pPr indent="0" marL="0">
              <a:buNone/>
            </a:pPr>
            <a:r>
              <a:rPr lang="en-US" sz="850" dirty="0">
                <a:solidFill>
                  <a:srgbClr val="777777"/>
                </a:solidFill>
              </a:rPr>
              <a:t>Digital lease agreements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2587752" y="3136392"/>
            <a:ext cx="177393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E0B04A"/>
                </a:solidFill>
              </a:rPr>
              <a:t>·  </a:t>
            </a:r>
            <a:pPr indent="0" marL="0">
              <a:buNone/>
            </a:pPr>
            <a:r>
              <a:rPr lang="en-US" sz="850" dirty="0">
                <a:solidFill>
                  <a:srgbClr val="777777"/>
                </a:solidFill>
              </a:rPr>
              <a:t>Admin verification queue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2587752" y="3474720"/>
            <a:ext cx="177393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E0B04A"/>
                </a:solidFill>
              </a:rPr>
              <a:t>·  </a:t>
            </a:r>
            <a:pPr indent="0" marL="0">
              <a:buNone/>
            </a:pPr>
            <a:r>
              <a:rPr lang="en-US" sz="850" dirty="0">
                <a:solidFill>
                  <a:srgbClr val="777777"/>
                </a:solidFill>
              </a:rPr>
              <a:t>Paystack payment integration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2587752" y="3813048"/>
            <a:ext cx="177393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E0B04A"/>
                </a:solidFill>
              </a:rPr>
              <a:t>·  </a:t>
            </a:r>
            <a:pPr indent="0" marL="0">
              <a:buNone/>
            </a:pPr>
            <a:r>
              <a:rPr lang="en-US" sz="850" dirty="0">
                <a:solidFill>
                  <a:srgbClr val="777777"/>
                </a:solidFill>
              </a:rPr>
              <a:t>Email + SMS notifications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2587752" y="4151376"/>
            <a:ext cx="177393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E0B04A"/>
                </a:solidFill>
              </a:rPr>
              <a:t>·  </a:t>
            </a:r>
            <a:pPr indent="0" marL="0">
              <a:buNone/>
            </a:pPr>
            <a:r>
              <a:rPr lang="en-US" sz="850" dirty="0">
                <a:solidFill>
                  <a:srgbClr val="777777"/>
                </a:solidFill>
              </a:rPr>
              <a:t>Tenant application flow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2587752" y="4489704"/>
            <a:ext cx="177393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E0B04A"/>
                </a:solidFill>
              </a:rPr>
              <a:t>·  </a:t>
            </a:r>
            <a:pPr indent="0" marL="0">
              <a:buNone/>
            </a:pPr>
            <a:r>
              <a:rPr lang="en-US" sz="850" dirty="0">
                <a:solidFill>
                  <a:srgbClr val="777777"/>
                </a:solidFill>
              </a:rPr>
              <a:t>Agent commission system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5303520" y="1353312"/>
            <a:ext cx="292608" cy="292608"/>
          </a:xfrm>
          <a:prstGeom prst="ellipse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5449824" y="1645920"/>
            <a:ext cx="0" cy="320040"/>
          </a:xfrm>
          <a:prstGeom prst="line">
            <a:avLst/>
          </a:prstGeom>
          <a:noFill/>
          <a:ln w="19050">
            <a:solidFill>
              <a:srgbClr val="A855F7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572000" y="1965960"/>
            <a:ext cx="1920240" cy="2971800"/>
          </a:xfrm>
          <a:prstGeom prst="rect">
            <a:avLst/>
          </a:prstGeom>
          <a:solidFill>
            <a:srgbClr val="1F1F1F"/>
          </a:solidFill>
          <a:ln w="12700">
            <a:solidFill>
              <a:srgbClr val="2A2A2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4572000" y="1965960"/>
            <a:ext cx="1920240" cy="54864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645152" y="2029968"/>
            <a:ext cx="177393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A855F7"/>
                </a:solidFill>
              </a:rPr>
              <a:t>Phase 3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A855F7"/>
                </a:solidFill>
              </a:rPr>
              <a:t>UPCOMING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4645152" y="2532888"/>
            <a:ext cx="177393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66666"/>
                </a:solidFill>
              </a:rPr>
              <a:t>Apr–Jun 2026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4645152" y="2798064"/>
            <a:ext cx="177393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A855F7"/>
                </a:solidFill>
              </a:rPr>
              <a:t>·  </a:t>
            </a:r>
            <a:pPr indent="0" marL="0">
              <a:buNone/>
            </a:pPr>
            <a:r>
              <a:rPr lang="en-US" sz="850" dirty="0">
                <a:solidFill>
                  <a:srgbClr val="777777"/>
                </a:solidFill>
              </a:rPr>
              <a:t>Mortgage calculator (live rates)</a:t>
            </a:r>
            <a:endParaRPr lang="en-US" sz="850" dirty="0"/>
          </a:p>
        </p:txBody>
      </p:sp>
      <p:sp>
        <p:nvSpPr>
          <p:cNvPr id="38" name="Text 36"/>
          <p:cNvSpPr/>
          <p:nvPr/>
        </p:nvSpPr>
        <p:spPr>
          <a:xfrm>
            <a:off x="4645152" y="3136392"/>
            <a:ext cx="177393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A855F7"/>
                </a:solidFill>
              </a:rPr>
              <a:t>·  </a:t>
            </a:r>
            <a:pPr indent="0" marL="0">
              <a:buNone/>
            </a:pPr>
            <a:r>
              <a:rPr lang="en-US" sz="850" dirty="0">
                <a:solidFill>
                  <a:srgbClr val="777777"/>
                </a:solidFill>
              </a:rPr>
              <a:t>Short-let booking + calendar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4645152" y="3474720"/>
            <a:ext cx="177393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A855F7"/>
                </a:solidFill>
              </a:rPr>
              <a:t>·  </a:t>
            </a:r>
            <a:pPr indent="0" marL="0">
              <a:buNone/>
            </a:pPr>
            <a:r>
              <a:rPr lang="en-US" sz="850" dirty="0">
                <a:solidFill>
                  <a:srgbClr val="777777"/>
                </a:solidFill>
              </a:rPr>
              <a:t>Maintenance request system</a:t>
            </a:r>
            <a:endParaRPr lang="en-US" sz="850" dirty="0"/>
          </a:p>
        </p:txBody>
      </p:sp>
      <p:sp>
        <p:nvSpPr>
          <p:cNvPr id="40" name="Text 38"/>
          <p:cNvSpPr/>
          <p:nvPr/>
        </p:nvSpPr>
        <p:spPr>
          <a:xfrm>
            <a:off x="4645152" y="3813048"/>
            <a:ext cx="177393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A855F7"/>
                </a:solidFill>
              </a:rPr>
              <a:t>·  </a:t>
            </a:r>
            <a:pPr indent="0" marL="0">
              <a:buNone/>
            </a:pPr>
            <a:r>
              <a:rPr lang="en-US" sz="850" dirty="0">
                <a:solidFill>
                  <a:srgbClr val="777777"/>
                </a:solidFill>
              </a:rPr>
              <a:t>PROPATI AI (property advice)</a:t>
            </a:r>
            <a:endParaRPr lang="en-US" sz="850" dirty="0"/>
          </a:p>
        </p:txBody>
      </p:sp>
      <p:sp>
        <p:nvSpPr>
          <p:cNvPr id="41" name="Text 39"/>
          <p:cNvSpPr/>
          <p:nvPr/>
        </p:nvSpPr>
        <p:spPr>
          <a:xfrm>
            <a:off x="4645152" y="4151376"/>
            <a:ext cx="177393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A855F7"/>
                </a:solidFill>
              </a:rPr>
              <a:t>·  </a:t>
            </a:r>
            <a:pPr indent="0" marL="0">
              <a:buNone/>
            </a:pPr>
            <a:r>
              <a:rPr lang="en-US" sz="850" dirty="0">
                <a:solidFill>
                  <a:srgbClr val="777777"/>
                </a:solidFill>
              </a:rPr>
              <a:t>NIN verification (NIMC API)</a:t>
            </a:r>
            <a:endParaRPr lang="en-US" sz="850" dirty="0"/>
          </a:p>
        </p:txBody>
      </p:sp>
      <p:sp>
        <p:nvSpPr>
          <p:cNvPr id="42" name="Text 40"/>
          <p:cNvSpPr/>
          <p:nvPr/>
        </p:nvSpPr>
        <p:spPr>
          <a:xfrm>
            <a:off x="4645152" y="4489704"/>
            <a:ext cx="177393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A855F7"/>
                </a:solidFill>
              </a:rPr>
              <a:t>·  </a:t>
            </a:r>
            <a:pPr indent="0" marL="0">
              <a:buNone/>
            </a:pPr>
            <a:r>
              <a:rPr lang="en-US" sz="850" dirty="0">
                <a:solidFill>
                  <a:srgbClr val="777777"/>
                </a:solidFill>
              </a:rPr>
              <a:t>Mobile-responsive audit</a:t>
            </a:r>
            <a:endParaRPr lang="en-US" sz="850" dirty="0"/>
          </a:p>
        </p:txBody>
      </p:sp>
      <p:sp>
        <p:nvSpPr>
          <p:cNvPr id="43" name="Shape 41"/>
          <p:cNvSpPr/>
          <p:nvPr/>
        </p:nvSpPr>
        <p:spPr>
          <a:xfrm>
            <a:off x="7360920" y="1353312"/>
            <a:ext cx="292608" cy="292608"/>
          </a:xfrm>
          <a:prstGeom prst="ellipse">
            <a:avLst/>
          </a:prstGeom>
          <a:solidFill>
            <a:srgbClr val="9CA3AF"/>
          </a:solidFill>
          <a:ln w="12700">
            <a:solidFill>
              <a:srgbClr val="9CA3AF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7507224" y="1645920"/>
            <a:ext cx="0" cy="320040"/>
          </a:xfrm>
          <a:prstGeom prst="line">
            <a:avLst/>
          </a:prstGeom>
          <a:noFill/>
          <a:ln w="19050">
            <a:solidFill>
              <a:srgbClr val="9CA3AF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6629400" y="1965960"/>
            <a:ext cx="1920240" cy="2971800"/>
          </a:xfrm>
          <a:prstGeom prst="rect">
            <a:avLst/>
          </a:prstGeom>
          <a:solidFill>
            <a:srgbClr val="1F1F1F"/>
          </a:solidFill>
          <a:ln w="12700">
            <a:solidFill>
              <a:srgbClr val="2A2A2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46" name="Shape 44"/>
          <p:cNvSpPr/>
          <p:nvPr/>
        </p:nvSpPr>
        <p:spPr>
          <a:xfrm>
            <a:off x="6629400" y="1965960"/>
            <a:ext cx="1920240" cy="54864"/>
          </a:xfrm>
          <a:prstGeom prst="rect">
            <a:avLst/>
          </a:prstGeom>
          <a:solidFill>
            <a:srgbClr val="9CA3AF"/>
          </a:solidFill>
          <a:ln w="12700">
            <a:solidFill>
              <a:srgbClr val="9CA3AF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702552" y="2029968"/>
            <a:ext cx="177393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CA3AF"/>
                </a:solidFill>
              </a:rPr>
              <a:t>Phase 4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9CA3AF"/>
                </a:solidFill>
              </a:rPr>
              <a:t>FUTURE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6702552" y="2532888"/>
            <a:ext cx="177393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66666"/>
                </a:solidFill>
              </a:rPr>
              <a:t>Jun+ 2026</a:t>
            </a:r>
            <a:endParaRPr lang="en-US" sz="800" dirty="0"/>
          </a:p>
        </p:txBody>
      </p:sp>
      <p:sp>
        <p:nvSpPr>
          <p:cNvPr id="49" name="Text 47"/>
          <p:cNvSpPr/>
          <p:nvPr/>
        </p:nvSpPr>
        <p:spPr>
          <a:xfrm>
            <a:off x="6702552" y="2798064"/>
            <a:ext cx="177393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9CA3AF"/>
                </a:solidFill>
              </a:rPr>
              <a:t>·  </a:t>
            </a:r>
            <a:pPr indent="0" marL="0">
              <a:buNone/>
            </a:pPr>
            <a:r>
              <a:rPr lang="en-US" sz="850" dirty="0">
                <a:solidFill>
                  <a:srgbClr val="777777"/>
                </a:solidFill>
              </a:rPr>
              <a:t>Native mobile apps (iOS/Android)</a:t>
            </a:r>
            <a:endParaRPr lang="en-US" sz="850" dirty="0"/>
          </a:p>
        </p:txBody>
      </p:sp>
      <p:sp>
        <p:nvSpPr>
          <p:cNvPr id="50" name="Text 48"/>
          <p:cNvSpPr/>
          <p:nvPr/>
        </p:nvSpPr>
        <p:spPr>
          <a:xfrm>
            <a:off x="6702552" y="3136392"/>
            <a:ext cx="177393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9CA3AF"/>
                </a:solidFill>
              </a:rPr>
              <a:t>·  </a:t>
            </a:r>
            <a:pPr indent="0" marL="0">
              <a:buNone/>
            </a:pPr>
            <a:r>
              <a:rPr lang="en-US" sz="850" dirty="0">
                <a:solidFill>
                  <a:srgbClr val="777777"/>
                </a:solidFill>
              </a:rPr>
              <a:t>Advanced analytics dashboard</a:t>
            </a:r>
            <a:endParaRPr lang="en-US" sz="850" dirty="0"/>
          </a:p>
        </p:txBody>
      </p:sp>
      <p:sp>
        <p:nvSpPr>
          <p:cNvPr id="51" name="Text 49"/>
          <p:cNvSpPr/>
          <p:nvPr/>
        </p:nvSpPr>
        <p:spPr>
          <a:xfrm>
            <a:off x="6702552" y="3474720"/>
            <a:ext cx="177393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9CA3AF"/>
                </a:solidFill>
              </a:rPr>
              <a:t>·  </a:t>
            </a:r>
            <a:pPr indent="0" marL="0">
              <a:buNone/>
            </a:pPr>
            <a:r>
              <a:rPr lang="en-US" sz="850" dirty="0">
                <a:solidFill>
                  <a:srgbClr val="777777"/>
                </a:solidFill>
              </a:rPr>
              <a:t>API for third-party agents</a:t>
            </a:r>
            <a:endParaRPr lang="en-US" sz="850" dirty="0"/>
          </a:p>
        </p:txBody>
      </p:sp>
      <p:sp>
        <p:nvSpPr>
          <p:cNvPr id="52" name="Text 50"/>
          <p:cNvSpPr/>
          <p:nvPr/>
        </p:nvSpPr>
        <p:spPr>
          <a:xfrm>
            <a:off x="6702552" y="3813048"/>
            <a:ext cx="177393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9CA3AF"/>
                </a:solidFill>
              </a:rPr>
              <a:t>·  </a:t>
            </a:r>
            <a:pPr indent="0" marL="0">
              <a:buNone/>
            </a:pPr>
            <a:r>
              <a:rPr lang="en-US" sz="850" dirty="0">
                <a:solidFill>
                  <a:srgbClr val="777777"/>
                </a:solidFill>
              </a:rPr>
              <a:t>Title transfer automation</a:t>
            </a:r>
            <a:endParaRPr lang="en-US" sz="850" dirty="0"/>
          </a:p>
        </p:txBody>
      </p:sp>
      <p:sp>
        <p:nvSpPr>
          <p:cNvPr id="53" name="Text 51"/>
          <p:cNvSpPr/>
          <p:nvPr/>
        </p:nvSpPr>
        <p:spPr>
          <a:xfrm>
            <a:off x="6702552" y="4151376"/>
            <a:ext cx="177393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9CA3AF"/>
                </a:solidFill>
              </a:rPr>
              <a:t>·  </a:t>
            </a:r>
            <a:pPr indent="0" marL="0">
              <a:buNone/>
            </a:pPr>
            <a:r>
              <a:rPr lang="en-US" sz="850" dirty="0">
                <a:solidFill>
                  <a:srgbClr val="777777"/>
                </a:solidFill>
              </a:rPr>
              <a:t>International listings</a:t>
            </a:r>
            <a:endParaRPr lang="en-US" sz="850" dirty="0"/>
          </a:p>
        </p:txBody>
      </p:sp>
      <p:sp>
        <p:nvSpPr>
          <p:cNvPr id="54" name="Text 52"/>
          <p:cNvSpPr/>
          <p:nvPr/>
        </p:nvSpPr>
        <p:spPr>
          <a:xfrm>
            <a:off x="6702552" y="4489704"/>
            <a:ext cx="177393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9CA3AF"/>
                </a:solidFill>
              </a:rPr>
              <a:t>·  </a:t>
            </a:r>
            <a:pPr indent="0" marL="0">
              <a:buNone/>
            </a:pPr>
            <a:r>
              <a:rPr lang="en-US" sz="850" dirty="0">
                <a:solidFill>
                  <a:srgbClr val="777777"/>
                </a:solidFill>
              </a:rPr>
              <a:t>IPO readiness metrics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3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2743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9952A"/>
                </a:solidFill>
              </a:rPr>
              <a:t>PROPATI  ·  PRD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0" y="0"/>
            <a:ext cx="8686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88888"/>
                </a:solidFill>
              </a:rPr>
              <a:t>Success Metrics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804672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1A"/>
                </a:solidFill>
              </a:rPr>
              <a:t>How We Measure Success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65760" y="1417320"/>
            <a:ext cx="397764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9E5D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1417320"/>
            <a:ext cx="73152" cy="1234440"/>
          </a:xfrm>
          <a:prstGeom prst="rect">
            <a:avLst/>
          </a:prstGeom>
          <a:solidFill>
            <a:srgbClr val="0E7C6A"/>
          </a:solidFill>
          <a:ln w="12700">
            <a:solidFill>
              <a:srgbClr val="0E7C6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30352" y="1490472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🏘️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1234440" y="150876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1A"/>
                </a:solidFill>
              </a:rPr>
              <a:t>Active Listings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234440" y="1801368"/>
            <a:ext cx="2926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E7C6A"/>
                </a:solidFill>
              </a:rPr>
              <a:t>100 listings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1234440" y="2194560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74151"/>
                </a:solidFill>
              </a:rPr>
              <a:t>within 60 days of launch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617720" y="1417320"/>
            <a:ext cx="397764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9E5D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617720" y="1417320"/>
            <a:ext cx="73152" cy="1234440"/>
          </a:xfrm>
          <a:prstGeom prst="rect">
            <a:avLst/>
          </a:prstGeom>
          <a:solidFill>
            <a:srgbClr val="D4622A"/>
          </a:solidFill>
          <a:ln w="12700">
            <a:solidFill>
              <a:srgbClr val="D4622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782312" y="1490472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👤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5486400" y="150876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1A"/>
                </a:solidFill>
              </a:rPr>
              <a:t>Verified Landlords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486400" y="1801368"/>
            <a:ext cx="2926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D4622A"/>
                </a:solidFill>
              </a:rPr>
              <a:t>20 landlords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5486400" y="2194560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74151"/>
                </a:solidFill>
              </a:rPr>
              <a:t>with at least 1 certified listing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365760" y="2834640"/>
            <a:ext cx="397764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9E5D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65760" y="2834640"/>
            <a:ext cx="73152" cy="1234440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30352" y="2907792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💬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1234440" y="292608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1A"/>
                </a:solidFill>
              </a:rPr>
              <a:t>Conversations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1234440" y="3218688"/>
            <a:ext cx="2926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A855F7"/>
                </a:solidFill>
              </a:rPr>
              <a:t>50 messages/week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1234440" y="3611880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74151"/>
                </a:solidFill>
              </a:rPr>
              <a:t>tenant → landlord via platform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4617720" y="2834640"/>
            <a:ext cx="397764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9E5D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617720" y="2834640"/>
            <a:ext cx="73152" cy="1234440"/>
          </a:xfrm>
          <a:prstGeom prst="rect">
            <a:avLst/>
          </a:prstGeom>
          <a:solidFill>
            <a:srgbClr val="C9952A"/>
          </a:solidFill>
          <a:ln w="12700">
            <a:solidFill>
              <a:srgbClr val="C9952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782312" y="2907792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💳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5486400" y="292608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1A"/>
                </a:solidFill>
              </a:rPr>
              <a:t>First Transaction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486400" y="3218688"/>
            <a:ext cx="2926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C9952A"/>
                </a:solidFill>
              </a:rPr>
              <a:t>₦1 escrow payment</a:t>
            </a:r>
            <a:endParaRPr lang="en-US" sz="2000" dirty="0"/>
          </a:p>
        </p:txBody>
      </p:sp>
      <p:sp>
        <p:nvSpPr>
          <p:cNvPr id="29" name="Text 27"/>
          <p:cNvSpPr/>
          <p:nvPr/>
        </p:nvSpPr>
        <p:spPr>
          <a:xfrm>
            <a:off x="5486400" y="3611880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74151"/>
                </a:solidFill>
              </a:rPr>
              <a:t>processed through Paystack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365760" y="4315968"/>
            <a:ext cx="8366760" cy="640080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85800" y="4343400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0B04A"/>
                </a:solidFill>
              </a:rPr>
              <a:t>&lt; 3s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685800" y="4617720"/>
            <a:ext cx="1463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CA3AF"/>
                </a:solidFill>
              </a:rPr>
              <a:t>Page load time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2350008" y="4343400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0B04A"/>
                </a:solidFill>
              </a:rPr>
              <a:t>&lt; 24hr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2350008" y="4617720"/>
            <a:ext cx="1463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CA3AF"/>
                </a:solidFill>
              </a:rPr>
              <a:t>Listing review SLA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4014216" y="4343400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0B04A"/>
                </a:solidFill>
              </a:rPr>
              <a:t>&lt; 4s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4014216" y="4617720"/>
            <a:ext cx="1463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CA3AF"/>
                </a:solidFill>
              </a:rPr>
              <a:t>Message poll interval</a:t>
            </a:r>
            <a:endParaRPr lang="en-US" sz="850" dirty="0"/>
          </a:p>
        </p:txBody>
      </p:sp>
      <p:sp>
        <p:nvSpPr>
          <p:cNvPr id="37" name="Text 35"/>
          <p:cNvSpPr/>
          <p:nvPr/>
        </p:nvSpPr>
        <p:spPr>
          <a:xfrm>
            <a:off x="5678424" y="4343400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0B04A"/>
                </a:solidFill>
              </a:rPr>
              <a:t>99.5%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5678424" y="4617720"/>
            <a:ext cx="1463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CA3AF"/>
                </a:solidFill>
              </a:rPr>
              <a:t>API uptime target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7342632" y="4343400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0B04A"/>
                </a:solidFill>
              </a:rPr>
              <a:t>&lt; ₦8k/mo</a:t>
            </a:r>
            <a:endParaRPr lang="en-US" sz="1400" dirty="0"/>
          </a:p>
        </p:txBody>
      </p:sp>
      <p:sp>
        <p:nvSpPr>
          <p:cNvPr id="40" name="Text 38"/>
          <p:cNvSpPr/>
          <p:nvPr/>
        </p:nvSpPr>
        <p:spPr>
          <a:xfrm>
            <a:off x="7342632" y="4617720"/>
            <a:ext cx="1463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CA3AF"/>
                </a:solidFill>
              </a:rPr>
              <a:t>Infrastructure cost at launch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1828800"/>
            <a:ext cx="5486400" cy="5486400"/>
          </a:xfrm>
          <a:prstGeom prst="ellipse">
            <a:avLst/>
          </a:prstGeom>
          <a:solidFill>
            <a:srgbClr val="C9952A">
              <a:alpha val="8000"/>
            </a:srgbClr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00800" y="-914400"/>
            <a:ext cx="4572000" cy="4572000"/>
          </a:xfrm>
          <a:prstGeom prst="ellipse">
            <a:avLst/>
          </a:prstGeom>
          <a:solidFill>
            <a:srgbClr val="0E7C6A">
              <a:alpha val="10000"/>
            </a:srgbClr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0" y="82296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000000"/>
                </a:solidFill>
              </a:rPr>
              <a:t>🇳🇬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914400" y="1508760"/>
            <a:ext cx="7315200" cy="1508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Nigeria deserves a</a:t>
            </a:r>
            <a:endParaRPr lang="en-US" sz="3400" dirty="0"/>
          </a:p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property market it can trust.</a:t>
            </a:r>
            <a:endParaRPr lang="en-US" sz="3400" dirty="0"/>
          </a:p>
        </p:txBody>
      </p:sp>
      <p:sp>
        <p:nvSpPr>
          <p:cNvPr id="6" name="Shape 4"/>
          <p:cNvSpPr/>
          <p:nvPr/>
        </p:nvSpPr>
        <p:spPr>
          <a:xfrm>
            <a:off x="3749040" y="3017520"/>
            <a:ext cx="1645920" cy="45720"/>
          </a:xfrm>
          <a:prstGeom prst="rect">
            <a:avLst/>
          </a:prstGeom>
          <a:solidFill>
            <a:srgbClr val="C9952A"/>
          </a:solidFill>
          <a:ln w="12700">
            <a:solidFill>
              <a:srgbClr val="C9952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371600" y="315468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CA3AF"/>
                </a:solidFill>
              </a:rPr>
              <a:t>PROPATI is being built to fix that — one verified property at a time.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2286000" y="3749040"/>
            <a:ext cx="4572000" cy="1097280"/>
          </a:xfrm>
          <a:prstGeom prst="rect">
            <a:avLst/>
          </a:prstGeom>
          <a:solidFill>
            <a:srgbClr val="1F1F1F"/>
          </a:solidFill>
          <a:ln w="12700">
            <a:solidFill>
              <a:srgbClr val="2A2A2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286000" y="379476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9952A"/>
                </a:solidFill>
              </a:rPr>
              <a:t>Next Steps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2423160" y="4096512"/>
            <a:ext cx="4297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0B04A"/>
                </a:solidFill>
              </a:rPr>
              <a:t>Phase 2: </a:t>
            </a:r>
            <a:pPr indent="0" marL="0">
              <a:buNone/>
            </a:pPr>
            <a:r>
              <a:rPr lang="en-US" sz="1000" dirty="0">
                <a:solidFill>
                  <a:srgbClr val="AAAAAA"/>
                </a:solidFill>
              </a:rPr>
              <a:t>Agreements · Payments · Admin queue · Notifications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2423160" y="4352544"/>
            <a:ext cx="4297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E7C6A"/>
                </a:solidFill>
              </a:rPr>
              <a:t>Launch target: </a:t>
            </a:r>
            <a:pPr indent="0" marL="0">
              <a:buNone/>
            </a:pPr>
            <a:r>
              <a:rPr lang="en-US" sz="1000" dirty="0">
                <a:solidFill>
                  <a:srgbClr val="AAAAAA"/>
                </a:solidFill>
              </a:rPr>
              <a:t>First 10 landlords onboarded by April 2026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0" y="4800600"/>
            <a:ext cx="9144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3333"/>
                </a:solidFill>
              </a:rPr>
              <a:t>propati.ng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914400"/>
            <a:ext cx="5486400" cy="5486400"/>
          </a:xfrm>
          <a:prstGeom prst="ellipse">
            <a:avLst/>
          </a:prstGeom>
          <a:solidFill>
            <a:srgbClr val="1A3A6A">
              <a:alpha val="30000"/>
            </a:srgbClr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00800" y="2286000"/>
            <a:ext cx="4572000" cy="4572000"/>
          </a:xfrm>
          <a:prstGeom prst="ellipse">
            <a:avLst/>
          </a:prstGeom>
          <a:solidFill>
            <a:srgbClr val="C9952A">
              <a:alpha val="10000"/>
            </a:srgbClr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00400" y="1005840"/>
            <a:ext cx="2743200" cy="347472"/>
          </a:xfrm>
          <a:prstGeom prst="rect">
            <a:avLst/>
          </a:prstGeom>
          <a:solidFill>
            <a:srgbClr val="1A3A6A"/>
          </a:solidFill>
          <a:ln w="12700">
            <a:solidFill>
              <a:srgbClr val="2A5AA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0" y="1005840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spc="300" kern="0" dirty="0">
                <a:solidFill>
                  <a:srgbClr val="6EA8FE"/>
                </a:solidFill>
              </a:rPr>
              <a:t>NEW MODULE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731520" y="1508760"/>
            <a:ext cx="76809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</a:rPr>
              <a:t>PROPATI for Business</a:t>
            </a:r>
            <a:endParaRPr lang="en-US" sz="4400" dirty="0"/>
          </a:p>
        </p:txBody>
      </p:sp>
      <p:sp>
        <p:nvSpPr>
          <p:cNvPr id="7" name="Shape 5"/>
          <p:cNvSpPr/>
          <p:nvPr/>
        </p:nvSpPr>
        <p:spPr>
          <a:xfrm>
            <a:off x="3474720" y="2724912"/>
            <a:ext cx="2194560" cy="45720"/>
          </a:xfrm>
          <a:prstGeom prst="rect">
            <a:avLst/>
          </a:prstGeom>
          <a:solidFill>
            <a:srgbClr val="C9952A"/>
          </a:solidFill>
          <a:ln w="12700">
            <a:solidFill>
              <a:srgbClr val="C995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97280" y="2880360"/>
            <a:ext cx="69494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CA3AF"/>
                </a:solidFill>
              </a:rPr>
              <a:t>B2B SaaS layer for estate managers, property firms &amp; developers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9CA3AF"/>
                </a:solidFill>
              </a:rPr>
              <a:t>Built on top of the existing platform — nothing replaced, everything extended.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1645920" y="3794760"/>
            <a:ext cx="2011680" cy="1005840"/>
          </a:xfrm>
          <a:prstGeom prst="rect">
            <a:avLst/>
          </a:prstGeom>
          <a:solidFill>
            <a:srgbClr val="131D2E"/>
          </a:solidFill>
          <a:ln w="12700">
            <a:solidFill>
              <a:srgbClr val="1E305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645920" y="3840480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🏢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1645920" y="4251960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EA8FE"/>
                </a:solidFill>
              </a:rPr>
              <a:t>Estate Managers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645920" y="4507992"/>
            <a:ext cx="20116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CA3AF"/>
                </a:solidFill>
              </a:rPr>
              <a:t>50–500 unit portfolios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4023360" y="3794760"/>
            <a:ext cx="2011680" cy="1005840"/>
          </a:xfrm>
          <a:prstGeom prst="rect">
            <a:avLst/>
          </a:prstGeom>
          <a:solidFill>
            <a:srgbClr val="131D2E"/>
          </a:solidFill>
          <a:ln w="12700">
            <a:solidFill>
              <a:srgbClr val="1E305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023360" y="3840480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🏗️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4023360" y="4251960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EA8FE"/>
                </a:solidFill>
              </a:rPr>
              <a:t>Developers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023360" y="4507992"/>
            <a:ext cx="20116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CA3AF"/>
                </a:solidFill>
              </a:rPr>
              <a:t>Sell entire blocks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6400800" y="3794760"/>
            <a:ext cx="2011680" cy="1005840"/>
          </a:xfrm>
          <a:prstGeom prst="rect">
            <a:avLst/>
          </a:prstGeom>
          <a:solidFill>
            <a:srgbClr val="131D2E"/>
          </a:solidFill>
          <a:ln w="12700">
            <a:solidFill>
              <a:srgbClr val="1E305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00800" y="3840480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🤝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6400800" y="4251960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EA8FE"/>
                </a:solidFill>
              </a:rPr>
              <a:t>Agency Firms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6400800" y="4507992"/>
            <a:ext cx="20116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CA3AF"/>
                </a:solidFill>
              </a:rPr>
              <a:t>Multi-agent teams</a:t>
            </a:r>
            <a:endParaRPr lang="en-US" sz="8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5F3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2743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9952A"/>
                </a:solidFill>
              </a:rPr>
              <a:t>PROPATI  ·  PRD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0" y="0"/>
            <a:ext cx="8686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88888"/>
                </a:solidFill>
              </a:rPr>
              <a:t>Module 4 — Estate Manager Role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804672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1A"/>
                </a:solidFill>
              </a:rPr>
              <a:t>The Estate Manager Role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457200" y="1298448"/>
            <a:ext cx="7772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</a:rPr>
              <a:t>A 5th role — sits above individual landlords. One org account, many properties, many staff seats.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474720" y="1664208"/>
            <a:ext cx="2194560" cy="548640"/>
          </a:xfrm>
          <a:prstGeom prst="rect">
            <a:avLst/>
          </a:prstGeom>
          <a:solidFill>
            <a:srgbClr val="1A3A6A"/>
          </a:solidFill>
          <a:ln w="12700">
            <a:solidFill>
              <a:srgbClr val="2A5AA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474720" y="1664208"/>
            <a:ext cx="2194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EA8FE"/>
                </a:solidFill>
              </a:rPr>
              <a:t>🏢  Estate Manager (Org)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1417320" y="2212848"/>
            <a:ext cx="0" cy="274320"/>
          </a:xfrm>
          <a:prstGeom prst="line">
            <a:avLst/>
          </a:prstGeom>
          <a:noFill/>
          <a:ln w="12700">
            <a:solidFill>
              <a:srgbClr val="CCCCC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72000" y="2212848"/>
            <a:ext cx="0" cy="274320"/>
          </a:xfrm>
          <a:prstGeom prst="line">
            <a:avLst/>
          </a:prstGeom>
          <a:noFill/>
          <a:ln w="12700">
            <a:solidFill>
              <a:srgbClr val="CCCCC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726680" y="2212848"/>
            <a:ext cx="0" cy="274320"/>
          </a:xfrm>
          <a:prstGeom prst="line">
            <a:avLst/>
          </a:prstGeom>
          <a:noFill/>
          <a:ln w="12700">
            <a:solidFill>
              <a:srgbClr val="CCCCC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417320" y="2487168"/>
            <a:ext cx="6309360" cy="0"/>
          </a:xfrm>
          <a:prstGeom prst="line">
            <a:avLst/>
          </a:prstGeom>
          <a:noFill/>
          <a:ln w="12700">
            <a:solidFill>
              <a:srgbClr val="CCCCC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188720" y="2487168"/>
            <a:ext cx="0" cy="228600"/>
          </a:xfrm>
          <a:prstGeom prst="line">
            <a:avLst/>
          </a:prstGeom>
          <a:noFill/>
          <a:ln w="12700">
            <a:solidFill>
              <a:srgbClr val="CCCCC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02920" y="2715768"/>
            <a:ext cx="137160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9E5D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502920" y="2734056"/>
            <a:ext cx="1371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👔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502920" y="3017520"/>
            <a:ext cx="1371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9952A"/>
                </a:solidFill>
              </a:rPr>
              <a:t>Manager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502920" y="3218688"/>
            <a:ext cx="1371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9CA3AF"/>
                </a:solidFill>
              </a:rPr>
              <a:t>Full access</a:t>
            </a:r>
            <a:endParaRPr lang="en-US" sz="750" dirty="0"/>
          </a:p>
        </p:txBody>
      </p:sp>
      <p:sp>
        <p:nvSpPr>
          <p:cNvPr id="18" name="Shape 16"/>
          <p:cNvSpPr/>
          <p:nvPr/>
        </p:nvSpPr>
        <p:spPr>
          <a:xfrm>
            <a:off x="3520440" y="2487168"/>
            <a:ext cx="0" cy="228600"/>
          </a:xfrm>
          <a:prstGeom prst="line">
            <a:avLst/>
          </a:prstGeom>
          <a:noFill/>
          <a:ln w="12700">
            <a:solidFill>
              <a:srgbClr val="CCCCC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834640" y="2715768"/>
            <a:ext cx="137160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9E5D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2834640" y="2734056"/>
            <a:ext cx="1371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💰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2834640" y="3017520"/>
            <a:ext cx="1371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E7C6A"/>
                </a:solidFill>
              </a:rPr>
              <a:t>Accountant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2834640" y="3218688"/>
            <a:ext cx="1371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9CA3AF"/>
                </a:solidFill>
              </a:rPr>
              <a:t>Payments only</a:t>
            </a:r>
            <a:endParaRPr lang="en-US" sz="750" dirty="0"/>
          </a:p>
        </p:txBody>
      </p:sp>
      <p:sp>
        <p:nvSpPr>
          <p:cNvPr id="23" name="Shape 21"/>
          <p:cNvSpPr/>
          <p:nvPr/>
        </p:nvSpPr>
        <p:spPr>
          <a:xfrm>
            <a:off x="5852160" y="2487168"/>
            <a:ext cx="0" cy="228600"/>
          </a:xfrm>
          <a:prstGeom prst="line">
            <a:avLst/>
          </a:prstGeom>
          <a:noFill/>
          <a:ln w="12700">
            <a:solidFill>
              <a:srgbClr val="CCCCC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166360" y="2715768"/>
            <a:ext cx="137160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9E5D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5166360" y="2734056"/>
            <a:ext cx="1371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🔧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5166360" y="3017520"/>
            <a:ext cx="1371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D4622A"/>
                </a:solidFill>
              </a:rPr>
              <a:t>Maintenance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5166360" y="3218688"/>
            <a:ext cx="1371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9CA3AF"/>
                </a:solidFill>
              </a:rPr>
              <a:t>Tickets only</a:t>
            </a:r>
            <a:endParaRPr lang="en-US" sz="750" dirty="0"/>
          </a:p>
        </p:txBody>
      </p:sp>
      <p:sp>
        <p:nvSpPr>
          <p:cNvPr id="28" name="Shape 26"/>
          <p:cNvSpPr/>
          <p:nvPr/>
        </p:nvSpPr>
        <p:spPr>
          <a:xfrm>
            <a:off x="8183880" y="2487168"/>
            <a:ext cx="0" cy="228600"/>
          </a:xfrm>
          <a:prstGeom prst="line">
            <a:avLst/>
          </a:prstGeom>
          <a:noFill/>
          <a:ln w="12700">
            <a:solidFill>
              <a:srgbClr val="CCCCCC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498080" y="2715768"/>
            <a:ext cx="137160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9E5D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7498080" y="2734056"/>
            <a:ext cx="1371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👁️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7498080" y="3017520"/>
            <a:ext cx="1371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A855F7"/>
                </a:solidFill>
              </a:rPr>
              <a:t>Owner View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7498080" y="3218688"/>
            <a:ext cx="1371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9CA3AF"/>
                </a:solidFill>
              </a:rPr>
              <a:t>Read-only reports</a:t>
            </a:r>
            <a:endParaRPr lang="en-US" sz="750" dirty="0"/>
          </a:p>
        </p:txBody>
      </p:sp>
      <p:sp>
        <p:nvSpPr>
          <p:cNvPr id="33" name="Shape 31"/>
          <p:cNvSpPr/>
          <p:nvPr/>
        </p:nvSpPr>
        <p:spPr>
          <a:xfrm>
            <a:off x="384048" y="3584448"/>
            <a:ext cx="2651760" cy="694944"/>
          </a:xfrm>
          <a:prstGeom prst="rect">
            <a:avLst/>
          </a:prstGeom>
          <a:solidFill>
            <a:srgbClr val="FFFFFF"/>
          </a:solidFill>
          <a:ln w="12700">
            <a:solidFill>
              <a:srgbClr val="E9E5D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384048" y="3584448"/>
            <a:ext cx="64008" cy="694944"/>
          </a:xfrm>
          <a:prstGeom prst="rect">
            <a:avLst/>
          </a:prstGeom>
          <a:solidFill>
            <a:srgbClr val="C9952A"/>
          </a:solidFill>
          <a:ln w="12700">
            <a:solidFill>
              <a:srgbClr val="C9952A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93776" y="3767328"/>
            <a:ext cx="347472" cy="347472"/>
          </a:xfrm>
          <a:prstGeom prst="ellipse">
            <a:avLst/>
          </a:prstGeom>
          <a:solidFill>
            <a:srgbClr val="C9952A">
              <a:alpha val="20000"/>
            </a:srgbClr>
          </a:solidFill>
          <a:ln w="12700">
            <a:solidFill>
              <a:srgbClr val="C9952A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93776" y="3767328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A1A1A"/>
                </a:solidFill>
              </a:rPr>
              <a:t>01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932688" y="3639312"/>
            <a:ext cx="20116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1A1A"/>
                </a:solidFill>
              </a:rPr>
              <a:t>Portfolio Dashboard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932688" y="3877056"/>
            <a:ext cx="2029968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374151"/>
                </a:solidFill>
              </a:rPr>
              <a:t>All units, occupancy rate, arrears, rent collected — one screen across every property managed.</a:t>
            </a:r>
            <a:endParaRPr lang="en-US" sz="800" dirty="0"/>
          </a:p>
        </p:txBody>
      </p:sp>
      <p:sp>
        <p:nvSpPr>
          <p:cNvPr id="39" name="Shape 37"/>
          <p:cNvSpPr/>
          <p:nvPr/>
        </p:nvSpPr>
        <p:spPr>
          <a:xfrm>
            <a:off x="3236976" y="3584448"/>
            <a:ext cx="2651760" cy="694944"/>
          </a:xfrm>
          <a:prstGeom prst="rect">
            <a:avLst/>
          </a:prstGeom>
          <a:solidFill>
            <a:srgbClr val="FFFFFF"/>
          </a:solidFill>
          <a:ln w="12700">
            <a:solidFill>
              <a:srgbClr val="E9E5D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3236976" y="3584448"/>
            <a:ext cx="64008" cy="694944"/>
          </a:xfrm>
          <a:prstGeom prst="rect">
            <a:avLst/>
          </a:prstGeom>
          <a:solidFill>
            <a:srgbClr val="C9952A"/>
          </a:solidFill>
          <a:ln w="12700">
            <a:solidFill>
              <a:srgbClr val="C9952A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3346704" y="3767328"/>
            <a:ext cx="347472" cy="347472"/>
          </a:xfrm>
          <a:prstGeom prst="ellipse">
            <a:avLst/>
          </a:prstGeom>
          <a:solidFill>
            <a:srgbClr val="C9952A">
              <a:alpha val="20000"/>
            </a:srgbClr>
          </a:solidFill>
          <a:ln w="12700">
            <a:solidFill>
              <a:srgbClr val="C9952A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346704" y="3767328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A1A1A"/>
                </a:solidFill>
              </a:rPr>
              <a:t>02</a:t>
            </a:r>
            <a:endParaRPr lang="en-US" sz="800" dirty="0"/>
          </a:p>
        </p:txBody>
      </p:sp>
      <p:sp>
        <p:nvSpPr>
          <p:cNvPr id="43" name="Text 41"/>
          <p:cNvSpPr/>
          <p:nvPr/>
        </p:nvSpPr>
        <p:spPr>
          <a:xfrm>
            <a:off x="3785616" y="3639312"/>
            <a:ext cx="20116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1A1A"/>
                </a:solidFill>
              </a:rPr>
              <a:t>Bulk Upload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3785616" y="3877056"/>
            <a:ext cx="2029968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374151"/>
                </a:solidFill>
              </a:rPr>
              <a:t>Import 50-500 units from Excel/CSV. No more filling individual listing forms for large estates.</a:t>
            </a:r>
            <a:endParaRPr lang="en-US" sz="800" dirty="0"/>
          </a:p>
        </p:txBody>
      </p:sp>
      <p:sp>
        <p:nvSpPr>
          <p:cNvPr id="45" name="Shape 43"/>
          <p:cNvSpPr/>
          <p:nvPr/>
        </p:nvSpPr>
        <p:spPr>
          <a:xfrm>
            <a:off x="6089904" y="3584448"/>
            <a:ext cx="2651760" cy="694944"/>
          </a:xfrm>
          <a:prstGeom prst="rect">
            <a:avLst/>
          </a:prstGeom>
          <a:solidFill>
            <a:srgbClr val="FFFFFF"/>
          </a:solidFill>
          <a:ln w="12700">
            <a:solidFill>
              <a:srgbClr val="E9E5D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46" name="Shape 44"/>
          <p:cNvSpPr/>
          <p:nvPr/>
        </p:nvSpPr>
        <p:spPr>
          <a:xfrm>
            <a:off x="6089904" y="3584448"/>
            <a:ext cx="64008" cy="694944"/>
          </a:xfrm>
          <a:prstGeom prst="rect">
            <a:avLst/>
          </a:prstGeom>
          <a:solidFill>
            <a:srgbClr val="C9952A"/>
          </a:solidFill>
          <a:ln w="12700">
            <a:solidFill>
              <a:srgbClr val="C9952A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6199632" y="3767328"/>
            <a:ext cx="347472" cy="347472"/>
          </a:xfrm>
          <a:prstGeom prst="ellipse">
            <a:avLst/>
          </a:prstGeom>
          <a:solidFill>
            <a:srgbClr val="C9952A">
              <a:alpha val="20000"/>
            </a:srgbClr>
          </a:solidFill>
          <a:ln w="12700">
            <a:solidFill>
              <a:srgbClr val="C9952A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199632" y="3767328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A1A1A"/>
                </a:solidFill>
              </a:rPr>
              <a:t>03</a:t>
            </a:r>
            <a:endParaRPr lang="en-US" sz="800" dirty="0"/>
          </a:p>
        </p:txBody>
      </p:sp>
      <p:sp>
        <p:nvSpPr>
          <p:cNvPr id="49" name="Text 47"/>
          <p:cNvSpPr/>
          <p:nvPr/>
        </p:nvSpPr>
        <p:spPr>
          <a:xfrm>
            <a:off x="6638544" y="3639312"/>
            <a:ext cx="20116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1A1A"/>
                </a:solidFill>
              </a:rPr>
              <a:t>Automated Reminders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6638544" y="3877056"/>
            <a:ext cx="2029968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374151"/>
                </a:solidFill>
              </a:rPr>
              <a:t>Set rent due dates once. Tenants get SMS + email at 7, 3, and 1 day before due. Zero manual work.</a:t>
            </a:r>
            <a:endParaRPr lang="en-US" sz="800" dirty="0"/>
          </a:p>
        </p:txBody>
      </p:sp>
      <p:sp>
        <p:nvSpPr>
          <p:cNvPr id="51" name="Shape 49"/>
          <p:cNvSpPr/>
          <p:nvPr/>
        </p:nvSpPr>
        <p:spPr>
          <a:xfrm>
            <a:off x="384048" y="4352544"/>
            <a:ext cx="2651760" cy="694944"/>
          </a:xfrm>
          <a:prstGeom prst="rect">
            <a:avLst/>
          </a:prstGeom>
          <a:solidFill>
            <a:srgbClr val="FFFFFF"/>
          </a:solidFill>
          <a:ln w="12700">
            <a:solidFill>
              <a:srgbClr val="E9E5D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52" name="Shape 50"/>
          <p:cNvSpPr/>
          <p:nvPr/>
        </p:nvSpPr>
        <p:spPr>
          <a:xfrm>
            <a:off x="384048" y="4352544"/>
            <a:ext cx="64008" cy="694944"/>
          </a:xfrm>
          <a:prstGeom prst="rect">
            <a:avLst/>
          </a:prstGeom>
          <a:solidFill>
            <a:srgbClr val="C9952A"/>
          </a:solidFill>
          <a:ln w="12700">
            <a:solidFill>
              <a:srgbClr val="C9952A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493776" y="4535424"/>
            <a:ext cx="347472" cy="347472"/>
          </a:xfrm>
          <a:prstGeom prst="ellipse">
            <a:avLst/>
          </a:prstGeom>
          <a:solidFill>
            <a:srgbClr val="C9952A">
              <a:alpha val="20000"/>
            </a:srgbClr>
          </a:solidFill>
          <a:ln w="12700">
            <a:solidFill>
              <a:srgbClr val="C9952A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493776" y="4535424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A1A1A"/>
                </a:solidFill>
              </a:rPr>
              <a:t>04</a:t>
            </a:r>
            <a:endParaRPr lang="en-US" sz="800" dirty="0"/>
          </a:p>
        </p:txBody>
      </p:sp>
      <p:sp>
        <p:nvSpPr>
          <p:cNvPr id="55" name="Text 53"/>
          <p:cNvSpPr/>
          <p:nvPr/>
        </p:nvSpPr>
        <p:spPr>
          <a:xfrm>
            <a:off x="932688" y="4407408"/>
            <a:ext cx="20116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1A1A"/>
                </a:solidFill>
              </a:rPr>
              <a:t>Maintenance Ticketing</a:t>
            </a:r>
            <a:endParaRPr lang="en-US" sz="1000" dirty="0"/>
          </a:p>
        </p:txBody>
      </p:sp>
      <p:sp>
        <p:nvSpPr>
          <p:cNvPr id="56" name="Text 54"/>
          <p:cNvSpPr/>
          <p:nvPr/>
        </p:nvSpPr>
        <p:spPr>
          <a:xfrm>
            <a:off x="932688" y="4645152"/>
            <a:ext cx="2029968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374151"/>
                </a:solidFill>
              </a:rPr>
              <a:t>Tenants raise issues in-app. Staff see a prioritised queue. Resolved tickets logged for audit trail.</a:t>
            </a:r>
            <a:endParaRPr lang="en-US" sz="800" dirty="0"/>
          </a:p>
        </p:txBody>
      </p:sp>
      <p:sp>
        <p:nvSpPr>
          <p:cNvPr id="57" name="Shape 55"/>
          <p:cNvSpPr/>
          <p:nvPr/>
        </p:nvSpPr>
        <p:spPr>
          <a:xfrm>
            <a:off x="3236976" y="4352544"/>
            <a:ext cx="2651760" cy="694944"/>
          </a:xfrm>
          <a:prstGeom prst="rect">
            <a:avLst/>
          </a:prstGeom>
          <a:solidFill>
            <a:srgbClr val="FFFFFF"/>
          </a:solidFill>
          <a:ln w="12700">
            <a:solidFill>
              <a:srgbClr val="E9E5D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58" name="Shape 56"/>
          <p:cNvSpPr/>
          <p:nvPr/>
        </p:nvSpPr>
        <p:spPr>
          <a:xfrm>
            <a:off x="3236976" y="4352544"/>
            <a:ext cx="64008" cy="694944"/>
          </a:xfrm>
          <a:prstGeom prst="rect">
            <a:avLst/>
          </a:prstGeom>
          <a:solidFill>
            <a:srgbClr val="C9952A"/>
          </a:solidFill>
          <a:ln w="12700">
            <a:solidFill>
              <a:srgbClr val="C9952A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3346704" y="4535424"/>
            <a:ext cx="347472" cy="347472"/>
          </a:xfrm>
          <a:prstGeom prst="ellipse">
            <a:avLst/>
          </a:prstGeom>
          <a:solidFill>
            <a:srgbClr val="C9952A">
              <a:alpha val="20000"/>
            </a:srgbClr>
          </a:solidFill>
          <a:ln w="12700">
            <a:solidFill>
              <a:srgbClr val="C9952A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3346704" y="4535424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A1A1A"/>
                </a:solidFill>
              </a:rPr>
              <a:t>05</a:t>
            </a:r>
            <a:endParaRPr lang="en-US" sz="800" dirty="0"/>
          </a:p>
        </p:txBody>
      </p:sp>
      <p:sp>
        <p:nvSpPr>
          <p:cNvPr id="61" name="Text 59"/>
          <p:cNvSpPr/>
          <p:nvPr/>
        </p:nvSpPr>
        <p:spPr>
          <a:xfrm>
            <a:off x="3785616" y="4407408"/>
            <a:ext cx="20116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1A1A"/>
                </a:solidFill>
              </a:rPr>
              <a:t>White-label Portal</a:t>
            </a:r>
            <a:endParaRPr lang="en-US" sz="1000" dirty="0"/>
          </a:p>
        </p:txBody>
      </p:sp>
      <p:sp>
        <p:nvSpPr>
          <p:cNvPr id="62" name="Text 60"/>
          <p:cNvSpPr/>
          <p:nvPr/>
        </p:nvSpPr>
        <p:spPr>
          <a:xfrm>
            <a:off x="3785616" y="4645152"/>
            <a:ext cx="2029968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374151"/>
                </a:solidFill>
              </a:rPr>
              <a:t>Firm's branding on the tenant-facing portal — powered by PROPATI behind the scenes.</a:t>
            </a:r>
            <a:endParaRPr lang="en-US" sz="800" dirty="0"/>
          </a:p>
        </p:txBody>
      </p:sp>
      <p:sp>
        <p:nvSpPr>
          <p:cNvPr id="63" name="Shape 61"/>
          <p:cNvSpPr/>
          <p:nvPr/>
        </p:nvSpPr>
        <p:spPr>
          <a:xfrm>
            <a:off x="6089904" y="4352544"/>
            <a:ext cx="2651760" cy="694944"/>
          </a:xfrm>
          <a:prstGeom prst="rect">
            <a:avLst/>
          </a:prstGeom>
          <a:solidFill>
            <a:srgbClr val="FFFFFF"/>
          </a:solidFill>
          <a:ln w="12700">
            <a:solidFill>
              <a:srgbClr val="E9E5D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64" name="Shape 62"/>
          <p:cNvSpPr/>
          <p:nvPr/>
        </p:nvSpPr>
        <p:spPr>
          <a:xfrm>
            <a:off x="6089904" y="4352544"/>
            <a:ext cx="64008" cy="694944"/>
          </a:xfrm>
          <a:prstGeom prst="rect">
            <a:avLst/>
          </a:prstGeom>
          <a:solidFill>
            <a:srgbClr val="C9952A"/>
          </a:solidFill>
          <a:ln w="12700">
            <a:solidFill>
              <a:srgbClr val="C9952A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6199632" y="4535424"/>
            <a:ext cx="347472" cy="347472"/>
          </a:xfrm>
          <a:prstGeom prst="ellipse">
            <a:avLst/>
          </a:prstGeom>
          <a:solidFill>
            <a:srgbClr val="C9952A">
              <a:alpha val="20000"/>
            </a:srgbClr>
          </a:solidFill>
          <a:ln w="12700">
            <a:solidFill>
              <a:srgbClr val="C9952A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6199632" y="4535424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A1A1A"/>
                </a:solidFill>
              </a:rPr>
              <a:t>06</a:t>
            </a:r>
            <a:endParaRPr lang="en-US" sz="800" dirty="0"/>
          </a:p>
        </p:txBody>
      </p:sp>
      <p:sp>
        <p:nvSpPr>
          <p:cNvPr id="67" name="Text 65"/>
          <p:cNvSpPr/>
          <p:nvPr/>
        </p:nvSpPr>
        <p:spPr>
          <a:xfrm>
            <a:off x="6638544" y="4407408"/>
            <a:ext cx="20116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1A1A"/>
                </a:solidFill>
              </a:rPr>
              <a:t>Owner Reports</a:t>
            </a:r>
            <a:endParaRPr lang="en-US" sz="1000" dirty="0"/>
          </a:p>
        </p:txBody>
      </p:sp>
      <p:sp>
        <p:nvSpPr>
          <p:cNvPr id="68" name="Text 66"/>
          <p:cNvSpPr/>
          <p:nvPr/>
        </p:nvSpPr>
        <p:spPr>
          <a:xfrm>
            <a:off x="6638544" y="4645152"/>
            <a:ext cx="2029968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374151"/>
                </a:solidFill>
              </a:rPr>
              <a:t>Auto-generated monthly PDF: rent collected, arrears, occupancy, costs — sent to property owners.</a:t>
            </a:r>
            <a:endParaRPr lang="en-US" sz="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80E19"/>
          </a:solidFill>
          <a:ln w="12700">
            <a:solidFill>
              <a:srgbClr val="080E1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2743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9952A"/>
                </a:solidFill>
              </a:rPr>
              <a:t>PROPATI  ·  PRD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0" y="0"/>
            <a:ext cx="8686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444444"/>
                </a:solidFill>
              </a:rPr>
              <a:t>Module 4 — B2B Pricing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777240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B2B SaaS Pricing Tiers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457200" y="1280160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CA3AF"/>
                </a:solidFill>
              </a:rPr>
              <a:t>Monthly subscription — billed per organisation, not per landlord.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1664208"/>
            <a:ext cx="2651760" cy="3291840"/>
          </a:xfrm>
          <a:prstGeom prst="rect">
            <a:avLst/>
          </a:prstGeom>
          <a:solidFill>
            <a:srgbClr val="0F1825"/>
          </a:solidFill>
          <a:ln w="12700">
            <a:solidFill>
              <a:srgbClr val="1A2A3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57200" y="1664208"/>
            <a:ext cx="2651760" cy="54864"/>
          </a:xfrm>
          <a:prstGeom prst="rect">
            <a:avLst/>
          </a:prstGeom>
          <a:solidFill>
            <a:srgbClr val="0E7C6A"/>
          </a:solidFill>
          <a:ln w="12700">
            <a:solidFill>
              <a:srgbClr val="0E7C6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1783080"/>
            <a:ext cx="2651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E7C6A"/>
                </a:solidFill>
              </a:rPr>
              <a:t>Starter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57200" y="2075688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₦25,000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457200" y="2578608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CA3AF"/>
                </a:solidFill>
              </a:rPr>
              <a:t>/month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777240" y="2816352"/>
            <a:ext cx="2011680" cy="237744"/>
          </a:xfrm>
          <a:prstGeom prst="rect">
            <a:avLst/>
          </a:prstGeom>
          <a:solidFill>
            <a:srgbClr val="0E7C6A">
              <a:alpha val="15000"/>
            </a:srgbClr>
          </a:solidFill>
          <a:ln w="12700">
            <a:solidFill>
              <a:srgbClr val="0E7C6A">
                <a:alpha val="40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77240" y="2816352"/>
            <a:ext cx="20116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E7C6A"/>
                </a:solidFill>
              </a:rPr>
              <a:t>Up to 20 units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621792" y="3145536"/>
            <a:ext cx="2359152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E7C6A"/>
                </a:solidFill>
              </a:rPr>
              <a:t>✓  </a:t>
            </a:r>
            <a:pPr indent="0" marL="0">
              <a:buNone/>
            </a:pPr>
            <a:r>
              <a:rPr lang="en-US" sz="850" dirty="0">
                <a:solidFill>
                  <a:srgbClr val="AAAAAA"/>
                </a:solidFill>
              </a:rPr>
              <a:t>1 manager seat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621792" y="3419856"/>
            <a:ext cx="2359152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E7C6A"/>
                </a:solidFill>
              </a:rPr>
              <a:t>✓  </a:t>
            </a:r>
            <a:pPr indent="0" marL="0">
              <a:buNone/>
            </a:pPr>
            <a:r>
              <a:rPr lang="en-US" sz="850" dirty="0">
                <a:solidFill>
                  <a:srgbClr val="AAAAAA"/>
                </a:solidFill>
              </a:rPr>
              <a:t>Portfolio dashboard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621792" y="3694176"/>
            <a:ext cx="2359152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E7C6A"/>
                </a:solidFill>
              </a:rPr>
              <a:t>✓  </a:t>
            </a:r>
            <a:pPr indent="0" marL="0">
              <a:buNone/>
            </a:pPr>
            <a:r>
              <a:rPr lang="en-US" sz="850" dirty="0">
                <a:solidFill>
                  <a:srgbClr val="AAAAAA"/>
                </a:solidFill>
              </a:rPr>
              <a:t>Automated rent reminders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621792" y="3968496"/>
            <a:ext cx="2359152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E7C6A"/>
                </a:solidFill>
              </a:rPr>
              <a:t>✓  </a:t>
            </a:r>
            <a:pPr indent="0" marL="0">
              <a:buNone/>
            </a:pPr>
            <a:r>
              <a:rPr lang="en-US" sz="850" dirty="0">
                <a:solidFill>
                  <a:srgbClr val="AAAAAA"/>
                </a:solidFill>
              </a:rPr>
              <a:t>Basic maintenance ticketing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621792" y="4242816"/>
            <a:ext cx="2359152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E7C6A"/>
                </a:solidFill>
              </a:rPr>
              <a:t>✓  </a:t>
            </a:r>
            <a:pPr indent="0" marL="0">
              <a:buNone/>
            </a:pPr>
            <a:r>
              <a:rPr lang="en-US" sz="850" dirty="0">
                <a:solidFill>
                  <a:srgbClr val="AAAAAA"/>
                </a:solidFill>
              </a:rPr>
              <a:t>PROPATI-branded portal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621792" y="4517136"/>
            <a:ext cx="2359152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E7C6A"/>
                </a:solidFill>
              </a:rPr>
              <a:t>✓  </a:t>
            </a:r>
            <a:pPr indent="0" marL="0">
              <a:buNone/>
            </a:pPr>
            <a:r>
              <a:rPr lang="en-US" sz="850" dirty="0">
                <a:solidFill>
                  <a:srgbClr val="AAAAAA"/>
                </a:solidFill>
              </a:rPr>
              <a:t>Email support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457200" y="4800600"/>
            <a:ext cx="2651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555555"/>
                </a:solidFill>
              </a:rPr>
              <a:t>For small estate managers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310128" y="1664208"/>
            <a:ext cx="2651760" cy="3291840"/>
          </a:xfrm>
          <a:prstGeom prst="rect">
            <a:avLst/>
          </a:prstGeom>
          <a:solidFill>
            <a:srgbClr val="131D2E"/>
          </a:solidFill>
          <a:ln w="12700">
            <a:solidFill>
              <a:srgbClr val="E0B04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310128" y="1664208"/>
            <a:ext cx="2651760" cy="54864"/>
          </a:xfrm>
          <a:prstGeom prst="rect">
            <a:avLst/>
          </a:prstGeom>
          <a:solidFill>
            <a:srgbClr val="E0B04A"/>
          </a:solidFill>
          <a:ln w="12700">
            <a:solidFill>
              <a:srgbClr val="E0B04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904488" y="1481328"/>
            <a:ext cx="1463040" cy="256032"/>
          </a:xfrm>
          <a:prstGeom prst="rect">
            <a:avLst/>
          </a:prstGeom>
          <a:solidFill>
            <a:srgbClr val="E0B04A"/>
          </a:solidFill>
          <a:ln w="12700">
            <a:solidFill>
              <a:srgbClr val="E0B04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904488" y="1481328"/>
            <a:ext cx="1463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A1A1A"/>
                </a:solidFill>
              </a:rPr>
              <a:t>⭐ MOST POPULAR</a:t>
            </a:r>
            <a:endParaRPr lang="en-US" sz="750" dirty="0"/>
          </a:p>
        </p:txBody>
      </p:sp>
      <p:sp>
        <p:nvSpPr>
          <p:cNvPr id="25" name="Text 23"/>
          <p:cNvSpPr/>
          <p:nvPr/>
        </p:nvSpPr>
        <p:spPr>
          <a:xfrm>
            <a:off x="3310128" y="1783080"/>
            <a:ext cx="2651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0B04A"/>
                </a:solidFill>
              </a:rPr>
              <a:t>Growth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3310128" y="2075688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₦60,000</a:t>
            </a:r>
            <a:endParaRPr lang="en-US" sz="2800" dirty="0"/>
          </a:p>
        </p:txBody>
      </p:sp>
      <p:sp>
        <p:nvSpPr>
          <p:cNvPr id="27" name="Text 25"/>
          <p:cNvSpPr/>
          <p:nvPr/>
        </p:nvSpPr>
        <p:spPr>
          <a:xfrm>
            <a:off x="3310128" y="2578608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CA3AF"/>
                </a:solidFill>
              </a:rPr>
              <a:t>/month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3630168" y="2816352"/>
            <a:ext cx="2011680" cy="237744"/>
          </a:xfrm>
          <a:prstGeom prst="rect">
            <a:avLst/>
          </a:prstGeom>
          <a:solidFill>
            <a:srgbClr val="E0B04A">
              <a:alpha val="15000"/>
            </a:srgbClr>
          </a:solidFill>
          <a:ln w="12700">
            <a:solidFill>
              <a:srgbClr val="E0B04A">
                <a:alpha val="4000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630168" y="2816352"/>
            <a:ext cx="20116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0B04A"/>
                </a:solidFill>
              </a:rPr>
              <a:t>Up to 100 units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3474720" y="3145536"/>
            <a:ext cx="2359152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E0B04A"/>
                </a:solidFill>
              </a:rPr>
              <a:t>✓  </a:t>
            </a:r>
            <a:pPr indent="0" marL="0">
              <a:buNone/>
            </a:pPr>
            <a:r>
              <a:rPr lang="en-US" sz="850" dirty="0">
                <a:solidFill>
                  <a:srgbClr val="AAAAAA"/>
                </a:solidFill>
              </a:rPr>
              <a:t>5 staff seats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3474720" y="3419856"/>
            <a:ext cx="2359152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E0B04A"/>
                </a:solidFill>
              </a:rPr>
              <a:t>✓  </a:t>
            </a:r>
            <a:pPr indent="0" marL="0">
              <a:buNone/>
            </a:pPr>
            <a:r>
              <a:rPr lang="en-US" sz="850" dirty="0">
                <a:solidFill>
                  <a:srgbClr val="AAAAAA"/>
                </a:solidFill>
              </a:rPr>
              <a:t>Everything in Starter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3474720" y="3694176"/>
            <a:ext cx="2359152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E0B04A"/>
                </a:solidFill>
              </a:rPr>
              <a:t>✓  </a:t>
            </a:r>
            <a:pPr indent="0" marL="0">
              <a:buNone/>
            </a:pPr>
            <a:r>
              <a:rPr lang="en-US" sz="850" dirty="0">
                <a:solidFill>
                  <a:srgbClr val="AAAAAA"/>
                </a:solidFill>
              </a:rPr>
              <a:t>Bulk CSV upload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3474720" y="3968496"/>
            <a:ext cx="2359152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E0B04A"/>
                </a:solidFill>
              </a:rPr>
              <a:t>✓  </a:t>
            </a:r>
            <a:pPr indent="0" marL="0">
              <a:buNone/>
            </a:pPr>
            <a:r>
              <a:rPr lang="en-US" sz="850" dirty="0">
                <a:solidFill>
                  <a:srgbClr val="AAAAAA"/>
                </a:solidFill>
              </a:rPr>
              <a:t>Accountant + maintenance roles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3474720" y="4242816"/>
            <a:ext cx="2359152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E0B04A"/>
                </a:solidFill>
              </a:rPr>
              <a:t>✓  </a:t>
            </a:r>
            <a:pPr indent="0" marL="0">
              <a:buNone/>
            </a:pPr>
            <a:r>
              <a:rPr lang="en-US" sz="850" dirty="0">
                <a:solidFill>
                  <a:srgbClr val="AAAAAA"/>
                </a:solidFill>
              </a:rPr>
              <a:t>Monthly owner PDF reports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3474720" y="4517136"/>
            <a:ext cx="2359152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E0B04A"/>
                </a:solidFill>
              </a:rPr>
              <a:t>✓  </a:t>
            </a:r>
            <a:pPr indent="0" marL="0">
              <a:buNone/>
            </a:pPr>
            <a:r>
              <a:rPr lang="en-US" sz="850" dirty="0">
                <a:solidFill>
                  <a:srgbClr val="AAAAAA"/>
                </a:solidFill>
              </a:rPr>
              <a:t>Priority support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3310128" y="4800600"/>
            <a:ext cx="2651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555555"/>
                </a:solidFill>
              </a:rPr>
              <a:t>Most popular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6163056" y="1664208"/>
            <a:ext cx="2651760" cy="3291840"/>
          </a:xfrm>
          <a:prstGeom prst="rect">
            <a:avLst/>
          </a:prstGeom>
          <a:solidFill>
            <a:srgbClr val="0F1825"/>
          </a:solidFill>
          <a:ln w="12700">
            <a:solidFill>
              <a:srgbClr val="1A2A3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6163056" y="1664208"/>
            <a:ext cx="2651760" cy="54864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163056" y="1783080"/>
            <a:ext cx="2651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A855F7"/>
                </a:solidFill>
              </a:rPr>
              <a:t>Enterprise</a:t>
            </a:r>
            <a:endParaRPr lang="en-US" sz="1400" dirty="0"/>
          </a:p>
        </p:txBody>
      </p:sp>
      <p:sp>
        <p:nvSpPr>
          <p:cNvPr id="40" name="Text 38"/>
          <p:cNvSpPr/>
          <p:nvPr/>
        </p:nvSpPr>
        <p:spPr>
          <a:xfrm>
            <a:off x="6163056" y="2075688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₦150,000</a:t>
            </a:r>
            <a:endParaRPr lang="en-US" sz="2800" dirty="0"/>
          </a:p>
        </p:txBody>
      </p:sp>
      <p:sp>
        <p:nvSpPr>
          <p:cNvPr id="41" name="Text 39"/>
          <p:cNvSpPr/>
          <p:nvPr/>
        </p:nvSpPr>
        <p:spPr>
          <a:xfrm>
            <a:off x="6163056" y="2578608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CA3AF"/>
                </a:solidFill>
              </a:rPr>
              <a:t>/month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6483096" y="2816352"/>
            <a:ext cx="2011680" cy="237744"/>
          </a:xfrm>
          <a:prstGeom prst="rect">
            <a:avLst/>
          </a:prstGeom>
          <a:solidFill>
            <a:srgbClr val="A855F7">
              <a:alpha val="15000"/>
            </a:srgbClr>
          </a:solidFill>
          <a:ln w="12700">
            <a:solidFill>
              <a:srgbClr val="A855F7">
                <a:alpha val="40000"/>
              </a:srgbClr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483096" y="2816352"/>
            <a:ext cx="20116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A855F7"/>
                </a:solidFill>
              </a:rPr>
              <a:t>Unlimited units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6327648" y="3145536"/>
            <a:ext cx="2359152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A855F7"/>
                </a:solidFill>
              </a:rPr>
              <a:t>✓  </a:t>
            </a:r>
            <a:pPr indent="0" marL="0">
              <a:buNone/>
            </a:pPr>
            <a:r>
              <a:rPr lang="en-US" sz="850" dirty="0">
                <a:solidFill>
                  <a:srgbClr val="AAAAAA"/>
                </a:solidFill>
              </a:rPr>
              <a:t>Unlimited staff seats</a:t>
            </a:r>
            <a:endParaRPr lang="en-US" sz="850" dirty="0"/>
          </a:p>
        </p:txBody>
      </p:sp>
      <p:sp>
        <p:nvSpPr>
          <p:cNvPr id="45" name="Text 43"/>
          <p:cNvSpPr/>
          <p:nvPr/>
        </p:nvSpPr>
        <p:spPr>
          <a:xfrm>
            <a:off x="6327648" y="3419856"/>
            <a:ext cx="2359152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A855F7"/>
                </a:solidFill>
              </a:rPr>
              <a:t>✓  </a:t>
            </a:r>
            <a:pPr indent="0" marL="0">
              <a:buNone/>
            </a:pPr>
            <a:r>
              <a:rPr lang="en-US" sz="850" dirty="0">
                <a:solidFill>
                  <a:srgbClr val="AAAAAA"/>
                </a:solidFill>
              </a:rPr>
              <a:t>Everything in Growth</a:t>
            </a:r>
            <a:endParaRPr lang="en-US" sz="850" dirty="0"/>
          </a:p>
        </p:txBody>
      </p:sp>
      <p:sp>
        <p:nvSpPr>
          <p:cNvPr id="46" name="Text 44"/>
          <p:cNvSpPr/>
          <p:nvPr/>
        </p:nvSpPr>
        <p:spPr>
          <a:xfrm>
            <a:off x="6327648" y="3694176"/>
            <a:ext cx="2359152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A855F7"/>
                </a:solidFill>
              </a:rPr>
              <a:t>✓  </a:t>
            </a:r>
            <a:pPr indent="0" marL="0">
              <a:buNone/>
            </a:pPr>
            <a:r>
              <a:rPr lang="en-US" sz="850" dirty="0">
                <a:solidFill>
                  <a:srgbClr val="AAAAAA"/>
                </a:solidFill>
              </a:rPr>
              <a:t>White-label tenant portal</a:t>
            </a:r>
            <a:endParaRPr lang="en-US" sz="850" dirty="0"/>
          </a:p>
        </p:txBody>
      </p:sp>
      <p:sp>
        <p:nvSpPr>
          <p:cNvPr id="47" name="Text 45"/>
          <p:cNvSpPr/>
          <p:nvPr/>
        </p:nvSpPr>
        <p:spPr>
          <a:xfrm>
            <a:off x="6327648" y="3968496"/>
            <a:ext cx="2359152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A855F7"/>
                </a:solidFill>
              </a:rPr>
              <a:t>✓  </a:t>
            </a:r>
            <a:pPr indent="0" marL="0">
              <a:buNone/>
            </a:pPr>
            <a:r>
              <a:rPr lang="en-US" sz="850" dirty="0">
                <a:solidFill>
                  <a:srgbClr val="AAAAAA"/>
                </a:solidFill>
              </a:rPr>
              <a:t>API access for integrations</a:t>
            </a:r>
            <a:endParaRPr lang="en-US" sz="850" dirty="0"/>
          </a:p>
        </p:txBody>
      </p:sp>
      <p:sp>
        <p:nvSpPr>
          <p:cNvPr id="48" name="Text 46"/>
          <p:cNvSpPr/>
          <p:nvPr/>
        </p:nvSpPr>
        <p:spPr>
          <a:xfrm>
            <a:off x="6327648" y="4242816"/>
            <a:ext cx="2359152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A855F7"/>
                </a:solidFill>
              </a:rPr>
              <a:t>✓  </a:t>
            </a:r>
            <a:pPr indent="0" marL="0">
              <a:buNone/>
            </a:pPr>
            <a:r>
              <a:rPr lang="en-US" sz="850" dirty="0">
                <a:solidFill>
                  <a:srgbClr val="AAAAAA"/>
                </a:solidFill>
              </a:rPr>
              <a:t>NIN verification (NIMC)</a:t>
            </a:r>
            <a:endParaRPr lang="en-US" sz="850" dirty="0"/>
          </a:p>
        </p:txBody>
      </p:sp>
      <p:sp>
        <p:nvSpPr>
          <p:cNvPr id="49" name="Text 47"/>
          <p:cNvSpPr/>
          <p:nvPr/>
        </p:nvSpPr>
        <p:spPr>
          <a:xfrm>
            <a:off x="6327648" y="4517136"/>
            <a:ext cx="2359152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A855F7"/>
                </a:solidFill>
              </a:rPr>
              <a:t>✓  </a:t>
            </a:r>
            <a:pPr indent="0" marL="0">
              <a:buNone/>
            </a:pPr>
            <a:r>
              <a:rPr lang="en-US" sz="850" dirty="0">
                <a:solidFill>
                  <a:srgbClr val="AAAAAA"/>
                </a:solidFill>
              </a:rPr>
              <a:t>Dedicated account manager</a:t>
            </a:r>
            <a:endParaRPr lang="en-US" sz="850" dirty="0"/>
          </a:p>
        </p:txBody>
      </p:sp>
      <p:sp>
        <p:nvSpPr>
          <p:cNvPr id="50" name="Text 48"/>
          <p:cNvSpPr/>
          <p:nvPr/>
        </p:nvSpPr>
        <p:spPr>
          <a:xfrm>
            <a:off x="6163056" y="4800600"/>
            <a:ext cx="2651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555555"/>
                </a:solidFill>
              </a:rPr>
              <a:t>For large firms &amp; developers</a:t>
            </a:r>
            <a:endParaRPr lang="en-US" sz="850" dirty="0"/>
          </a:p>
        </p:txBody>
      </p:sp>
      <p:sp>
        <p:nvSpPr>
          <p:cNvPr id="51" name="Shape 49"/>
          <p:cNvSpPr/>
          <p:nvPr/>
        </p:nvSpPr>
        <p:spPr>
          <a:xfrm>
            <a:off x="457200" y="4736592"/>
            <a:ext cx="8275320" cy="0"/>
          </a:xfrm>
          <a:prstGeom prst="rect">
            <a:avLst/>
          </a:prstGeom>
          <a:solidFill>
            <a:srgbClr val="1A2A3A"/>
          </a:solidFill>
          <a:ln w="12700">
            <a:solidFill>
              <a:srgbClr val="1A2A3A"/>
            </a:solidFill>
            <a:prstDash val="solid"/>
          </a:ln>
        </p:spPr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5F3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2743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9952A"/>
                </a:solidFill>
              </a:rPr>
              <a:t>PROPATI  ·  PRD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0" y="0"/>
            <a:ext cx="8686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88888"/>
                </a:solidFill>
              </a:rPr>
              <a:t>Module 4 — B2B Architecture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777240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1A"/>
                </a:solidFill>
              </a:rPr>
              <a:t>How B2B Fits the Existing Platform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457200" y="1389888"/>
            <a:ext cx="822960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0E7C6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1389888"/>
            <a:ext cx="91440" cy="502920"/>
          </a:xfrm>
          <a:prstGeom prst="rect">
            <a:avLst/>
          </a:prstGeom>
          <a:solidFill>
            <a:srgbClr val="0E7C6A"/>
          </a:solidFill>
          <a:ln w="12700">
            <a:solidFill>
              <a:srgbClr val="0E7C6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5800" y="1444752"/>
            <a:ext cx="7772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1A"/>
                </a:solidFill>
              </a:rPr>
              <a:t>PROPATI Consumer Layer  (existing — unchanged)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85800" y="1682496"/>
            <a:ext cx="7772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74151"/>
                </a:solidFill>
              </a:rPr>
              <a:t>Individual landlords · Tenants · Agents · Public marketplace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57200" y="1965960"/>
            <a:ext cx="822960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6EA8F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57200" y="1965960"/>
            <a:ext cx="91440" cy="502920"/>
          </a:xfrm>
          <a:prstGeom prst="rect">
            <a:avLst/>
          </a:prstGeom>
          <a:solidFill>
            <a:srgbClr val="6EA8FE"/>
          </a:solidFill>
          <a:ln w="12700">
            <a:solidFill>
              <a:srgbClr val="6EA8F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85800" y="2020824"/>
            <a:ext cx="7772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1A"/>
                </a:solidFill>
              </a:rPr>
              <a:t>PROPATI Business Layer  (new)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85800" y="2258568"/>
            <a:ext cx="7772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74151"/>
                </a:solidFill>
              </a:rPr>
              <a:t>Estate Manager orgs · Multi-seat teams · Portfolio tools · Subscriptions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57200" y="2542032"/>
            <a:ext cx="822960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C9952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57200" y="2542032"/>
            <a:ext cx="91440" cy="502920"/>
          </a:xfrm>
          <a:prstGeom prst="rect">
            <a:avLst/>
          </a:prstGeom>
          <a:solidFill>
            <a:srgbClr val="C9952A"/>
          </a:solidFill>
          <a:ln w="12700">
            <a:solidFill>
              <a:srgbClr val="C9952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85800" y="2596896"/>
            <a:ext cx="7772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1A"/>
                </a:solidFill>
              </a:rPr>
              <a:t>Shared Infrastructure  (same backend)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85800" y="2834640"/>
            <a:ext cx="7772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74151"/>
                </a:solidFill>
              </a:rPr>
              <a:t>Supabase DB · Cloudinary · Paystack · JWT Auth · Verification system · Messaging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457200" y="3200400"/>
            <a:ext cx="4114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9952A"/>
                </a:solidFill>
              </a:rPr>
              <a:t>New DB Tables Required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57200" y="3474720"/>
            <a:ext cx="8229600" cy="228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9E5D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48640" y="3474720"/>
            <a:ext cx="1554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A3A6A"/>
                </a:solidFill>
              </a:rPr>
              <a:t>organisations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2148840" y="3474720"/>
            <a:ext cx="6400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74151"/>
                </a:solidFill>
              </a:rPr>
              <a:t>id · name · plan_tier · seats · billing_email · created_at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457200" y="3730752"/>
            <a:ext cx="8229600" cy="228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9E5D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48640" y="3730752"/>
            <a:ext cx="1554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A3A6A"/>
                </a:solidFill>
              </a:rPr>
              <a:t>org_members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2148840" y="3730752"/>
            <a:ext cx="6400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74151"/>
                </a:solidFill>
              </a:rPr>
              <a:t>id · org_id · user_id · role (manager/accountant/maintenance/owner_view)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457200" y="3986784"/>
            <a:ext cx="8229600" cy="228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9E5D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48640" y="3986784"/>
            <a:ext cx="1554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A3A6A"/>
                </a:solidFill>
              </a:rPr>
              <a:t>maintenance_tickets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2148840" y="3986784"/>
            <a:ext cx="6400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74151"/>
                </a:solidFill>
              </a:rPr>
              <a:t>id · org_id · property_id · tenant_id · title · status · created_at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457200" y="4242816"/>
            <a:ext cx="8229600" cy="228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9E5D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48640" y="4242816"/>
            <a:ext cx="1554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A3A6A"/>
                </a:solidFill>
              </a:rPr>
              <a:t>org_subscriptions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2148840" y="4242816"/>
            <a:ext cx="6400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74151"/>
                </a:solidFill>
              </a:rPr>
              <a:t>id · org_id · paystack_sub_id · plan · status · next_billing_date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457200" y="4553712"/>
            <a:ext cx="4572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C9952A"/>
                </a:solidFill>
              </a:rPr>
              <a:t>Revenue Scenario  (Year 1 target)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457200" y="4773168"/>
            <a:ext cx="192024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E9E5DC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57200" y="4773168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74151"/>
                </a:solidFill>
              </a:rPr>
              <a:t>10 firms × ₦25k  </a:t>
            </a:r>
            <a:pPr algn="ctr" indent="0" marL="0">
              <a:buNone/>
            </a:pPr>
            <a:r>
              <a:rPr lang="en-US" sz="1000" b="1" dirty="0">
                <a:solidFill>
                  <a:srgbClr val="1A1A1A"/>
                </a:solidFill>
              </a:rPr>
              <a:t>₦250k/mo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2542032" y="4773168"/>
            <a:ext cx="192024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E9E5DC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2542032" y="4773168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74151"/>
                </a:solidFill>
              </a:rPr>
              <a:t>10 firms × ₦60k  </a:t>
            </a:r>
            <a:pPr algn="ctr" indent="0" marL="0">
              <a:buNone/>
            </a:pPr>
            <a:r>
              <a:rPr lang="en-US" sz="1000" b="1" dirty="0">
                <a:solidFill>
                  <a:srgbClr val="1A1A1A"/>
                </a:solidFill>
              </a:rPr>
              <a:t>₦600k/mo</a:t>
            </a:r>
            <a:endParaRPr lang="en-US" sz="800" dirty="0"/>
          </a:p>
        </p:txBody>
      </p:sp>
      <p:sp>
        <p:nvSpPr>
          <p:cNvPr id="36" name="Shape 34"/>
          <p:cNvSpPr/>
          <p:nvPr/>
        </p:nvSpPr>
        <p:spPr>
          <a:xfrm>
            <a:off x="4626864" y="4773168"/>
            <a:ext cx="192024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E9E5DC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626864" y="4773168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74151"/>
                </a:solidFill>
              </a:rPr>
              <a:t>5 firms × ₦150k  </a:t>
            </a:r>
            <a:pPr algn="ctr" indent="0" marL="0">
              <a:buNone/>
            </a:pPr>
            <a:r>
              <a:rPr lang="en-US" sz="1000" b="1" dirty="0">
                <a:solidFill>
                  <a:srgbClr val="1A1A1A"/>
                </a:solidFill>
              </a:rPr>
              <a:t>₦750k/mo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6711696" y="4773168"/>
            <a:ext cx="1920240" cy="347472"/>
          </a:xfrm>
          <a:prstGeom prst="rect">
            <a:avLst/>
          </a:prstGeom>
          <a:solidFill>
            <a:srgbClr val="1A1A1A"/>
          </a:solidFill>
          <a:ln w="12700">
            <a:solidFill>
              <a:srgbClr val="C9952A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711696" y="4773168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CA3AF"/>
                </a:solidFill>
              </a:rPr>
              <a:t>= 25 B2B clients  </a:t>
            </a:r>
            <a:pPr algn="ctr" indent="0" marL="0">
              <a:buNone/>
            </a:pPr>
            <a:r>
              <a:rPr lang="en-US" sz="1000" b="1" dirty="0">
                <a:solidFill>
                  <a:srgbClr val="C9952A"/>
                </a:solidFill>
              </a:rPr>
              <a:t>₦1.6M MRR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PROPATI — Product Requirements Document</dc:title>
  <dc:subject>PptxGenJS Presentation</dc:subject>
  <dc:creator>PROPATI Product Team</dc:creator>
  <cp:lastModifiedBy>PROPATI Product Team</cp:lastModifiedBy>
  <cp:revision>1</cp:revision>
  <dcterms:created xsi:type="dcterms:W3CDTF">2026-03-13T05:18:22Z</dcterms:created>
  <dcterms:modified xsi:type="dcterms:W3CDTF">2026-03-13T05:18:22Z</dcterms:modified>
</cp:coreProperties>
</file>