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C9952A">
              <a:alpha val="1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411480"/>
            <a:ext cx="1463040" cy="347472"/>
          </a:xfrm>
          <a:prstGeom prst="rect">
            <a:avLst>
              <a:gd name="adj" fmla="val 13158"/>
            </a:avLst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23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PROPATI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D9A0"/>
                </a:solidFill>
              </a:rPr>
              <a:t>🇳🇬  Nigeria's Property Platform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3258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</a:rPr>
              <a:t>Product Requirements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</a:rPr>
              <a:t>Document</a:t>
            </a:r>
            <a:endParaRPr lang="en-US" sz="5200" dirty="0"/>
          </a:p>
        </p:txBody>
      </p:sp>
      <p:sp>
        <p:nvSpPr>
          <p:cNvPr id="17" name="Shape 15"/>
          <p:cNvSpPr/>
          <p:nvPr/>
        </p:nvSpPr>
        <p:spPr>
          <a:xfrm>
            <a:off x="502920" y="3246120"/>
            <a:ext cx="2560320" cy="4572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832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Marketplace · Property Management · Trust &amp; Verification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794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v1.0  ·  March 2026  ·  Confidential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1463040"/>
            <a:ext cx="1417320" cy="8229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51790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04A"/>
                </a:solidFill>
              </a:rPr>
              <a:t>4 Roles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1883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Landlord · Tenant · Agent · Admin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498080" y="2560320"/>
            <a:ext cx="1417320" cy="8229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261518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04A"/>
                </a:solidFill>
              </a:rPr>
              <a:t>5 Layers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0" y="298094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Trust Verification System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498080" y="3657600"/>
            <a:ext cx="1417320" cy="8229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371246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04A"/>
                </a:solidFill>
              </a:rPr>
              <a:t>6 Modules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0" y="407822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Built &amp; Shipped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The Problem We're Solving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37360"/>
            <a:ext cx="2651760" cy="6400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No Verification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2788920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Fake listings and fraudulent landlords cost Nigerians billions yearly. There is no trusted national database of verified properties.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73736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737360"/>
            <a:ext cx="2651760" cy="6400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01568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No Escrow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74136" y="2788920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Rent payments are made in cash with no protection. Disputes have no resolution path and tenants lose deposits with no recourse.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17336" y="173736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737360"/>
            <a:ext cx="2651760" cy="6400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54496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No Digital Records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27064" y="2788920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Lease agreements are paper-based, easily disputed, and rarely enforced. There is no standard digital contract for Nigerian rentals.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B04A"/>
                </a:solidFill>
              </a:rPr>
              <a:t>PROPATI solves all three — one platform, five verification layers, full escrow, and digital agreements.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Product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Four Roles. One Platform.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Every stakeholder in Nigeria's property market has a dedicated, purpose-built experience.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2011680" cy="3200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37360"/>
            <a:ext cx="2011680" cy="64008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874520"/>
            <a:ext cx="640080" cy="640080"/>
          </a:xfrm>
          <a:prstGeom prst="ellipse">
            <a:avLst/>
          </a:prstGeom>
          <a:solidFill>
            <a:srgbClr val="D4622A">
              <a:alpha val="15000"/>
            </a:srgbClr>
          </a:solidFill>
          <a:ln w="12700">
            <a:solidFill>
              <a:srgbClr val="D4622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2578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2A"/>
                </a:solidFill>
              </a:rPr>
              <a:t>Landlord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4622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Add &amp; verify properties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3319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4622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Collect rent via Escrow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3666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4622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Screen tenants (video call)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4014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4622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Digital lease agreements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" y="4361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4622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5-layer verification wizard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1737360"/>
            <a:ext cx="2011680" cy="3200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1737360"/>
            <a:ext cx="2011680" cy="64008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1874520"/>
            <a:ext cx="640080" cy="640080"/>
          </a:xfrm>
          <a:prstGeom prst="ellipse">
            <a:avLst/>
          </a:prstGeom>
          <a:solidFill>
            <a:srgbClr val="0E7C6A">
              <a:alpha val="15000"/>
            </a:srgbClr>
          </a:solidFill>
          <a:ln w="12700">
            <a:solidFill>
              <a:srgbClr val="0E7C6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68880" y="2578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6A"/>
                </a:solidFill>
              </a:rPr>
              <a:t>Tenant / Buyer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78608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Browse verified listings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78608" y="3319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Apply &amp; message landlord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78608" y="3666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Sign leases digitally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78608" y="4014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Pay rent safely (Escrow)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78608" y="4361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Mortgage calculator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1737360"/>
            <a:ext cx="2011680" cy="3200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1737360"/>
            <a:ext cx="2011680" cy="64008"/>
          </a:xfrm>
          <a:prstGeom prst="rect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1874520"/>
            <a:ext cx="640080" cy="640080"/>
          </a:xfrm>
          <a:prstGeom prst="ellipse">
            <a:avLst/>
          </a:prstGeom>
          <a:solidFill>
            <a:srgbClr val="E0B04A">
              <a:alpha val="15000"/>
            </a:srgbClr>
          </a:solidFill>
          <a:ln w="12700">
            <a:solidFill>
              <a:srgbClr val="E0B04A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617720" y="2578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B04A"/>
                </a:solidFill>
              </a:rPr>
              <a:t>Agent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27448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0B04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Manage client pipeline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27448" y="3319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0B04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List on behalf of landlords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27448" y="3666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0B04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Earn verified commissions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27448" y="4014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0B04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Inspect &amp; report properties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27448" y="4361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0B04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Build reputation profile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66560" y="1737360"/>
            <a:ext cx="2011680" cy="3200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66560" y="1737360"/>
            <a:ext cx="2011680" cy="6400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52360" y="1874520"/>
            <a:ext cx="640080" cy="640080"/>
          </a:xfrm>
          <a:prstGeom prst="ellipse">
            <a:avLst/>
          </a:prstGeom>
          <a:solidFill>
            <a:srgbClr val="00D4C8">
              <a:alpha val="15000"/>
            </a:srgbClr>
          </a:solidFill>
          <a:ln w="12700">
            <a:solidFill>
              <a:srgbClr val="00D4C8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766560" y="2578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C8"/>
                </a:solidFill>
              </a:rPr>
              <a:t>Admin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76288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D4C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Approve verifications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76288" y="3319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D4C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Resolve disputes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76288" y="3666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D4C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Monitor platform health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76288" y="4014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D4C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Manage all users &amp; listings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76288" y="4361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D4C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Financial oversight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Module 1 — Marketplace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Marketplace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&amp; Discovery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Nigeria's first property marketplace with native filtering by listing type, real-time search, and trust-level sorting — all fed from a live Supabase database.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88036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735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4151"/>
                </a:solidFill>
              </a:rPr>
              <a:t>Rent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07008" y="28803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07008" y="288036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7008" y="32735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4151"/>
                </a:solidFill>
              </a:rPr>
              <a:t>Buy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56816" y="28803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56816" y="288036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56816" y="32735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4151"/>
                </a:solidFill>
              </a:rPr>
              <a:t>Short-let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06624" y="28803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06624" y="288036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06624" y="32735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4151"/>
                </a:solidFill>
              </a:rPr>
              <a:t>Share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56432" y="28803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56432" y="288036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56432" y="32735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4151"/>
                </a:solidFill>
              </a:rPr>
              <a:t>Commercial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3639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52A"/>
                </a:solidFill>
              </a:rPr>
              <a:t>Feature Specification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50208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Real-time search by area, type, price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073652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Category filter tabs (All / Rent / Buy / Short-let…)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197096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Sort by: Newest, Price Low-High, Most Verified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320540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Trust badge on every listing (Basic → Certified)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443984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Listing cards with Cloudinary photos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567428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Apply &amp; Message button starts conversation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690872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Browse by area (Lekki, VI, Ikeja, Abuja…)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14316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PROPATI AI assistant sidebar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937760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Empty state CTAs to onboard first landlords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804672"/>
            <a:ext cx="4069080" cy="4206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04A"/>
                </a:solidFill>
              </a:rPr>
              <a:t>API Endpoints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1280160"/>
            <a:ext cx="38404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130759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AD72"/>
                </a:solidFill>
              </a:rPr>
              <a:t>GET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28032" y="149047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/api/listings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28032" y="13075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Fetch all listings with filters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1801368"/>
            <a:ext cx="38404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182880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AD72"/>
                </a:solidFill>
              </a:rPr>
              <a:t>GET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28032" y="20116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/api/listings?listing_type=rent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28032" y="18288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Filter by category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2322576"/>
            <a:ext cx="38404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2350008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B04A"/>
                </a:solidFill>
              </a:rPr>
              <a:t>POST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28032" y="253288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/api/listings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28032" y="2350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Create a new listing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4880" y="2843784"/>
            <a:ext cx="38404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2871216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B04A"/>
                </a:solidFill>
              </a:rPr>
              <a:t>POST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28032" y="305409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/api/listings/upload-image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28032" y="28712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Upload photos → Cloudinary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54880" y="3364992"/>
            <a:ext cx="38404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3392424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AD72"/>
                </a:solidFill>
              </a:rPr>
              <a:t>GET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28032" y="357530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/api/listings/my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28032" y="33924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Get current user's listings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54880" y="3886200"/>
            <a:ext cx="38404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39136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AD72"/>
                </a:solidFill>
              </a:rPr>
              <a:t>GET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828032" y="40965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/api/listings/:id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28032" y="39136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Get single listing detail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46320" y="44805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52A"/>
                </a:solidFill>
              </a:rPr>
              <a:t>DB Schema: listings table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54880" y="4681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id · uuid · PK   ·   landlord_id · uuid · FK   ·   title · varchar   ·   listing_type · enum   ·   price · bigint   ·   location · text   ·   images · text[]   ·   trust_level · enum   ·   created_at · timestamptz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Module 2 — Messaging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Real-Time Messaging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1508760" cy="14173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81328"/>
            <a:ext cx="1508760" cy="54864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6A"/>
                </a:solidFill>
              </a:rPr>
              <a:t>Tenant finds listing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Browses marketplace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74520" y="169164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952A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66544" y="1481328"/>
            <a:ext cx="1508760" cy="14173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66544" y="1481328"/>
            <a:ext cx="1508760" cy="54864"/>
          </a:xfrm>
          <a:prstGeom prst="rect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1554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12264" y="20848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B04A"/>
                </a:solidFill>
              </a:rPr>
              <a:t>Apply &amp; Message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12264" y="2395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Opens conversation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75304" y="169164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952A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67328" y="1481328"/>
            <a:ext cx="1508760" cy="14173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67328" y="1481328"/>
            <a:ext cx="1508760" cy="54864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1554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13048" y="20848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622A"/>
                </a:solidFill>
              </a:rPr>
              <a:t>Landlord receives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13048" y="2395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Inbox notification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76088" y="169164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952A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68112" y="1481328"/>
            <a:ext cx="1508760" cy="14173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68112" y="1481328"/>
            <a:ext cx="1508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1554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📹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13832" y="20848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</a:rPr>
              <a:t>Screening call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13832" y="2395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Video interview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76872" y="169164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952A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68896" y="1481328"/>
            <a:ext cx="1508760" cy="14173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68896" y="1481328"/>
            <a:ext cx="1508760" cy="54864"/>
          </a:xfrm>
          <a:prstGeom prst="rect">
            <a:avLst/>
          </a:prstGeom>
          <a:solidFill>
            <a:srgbClr val="2AAD72"/>
          </a:solidFill>
          <a:ln w="12700">
            <a:solidFill>
              <a:srgbClr val="2AAD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68896" y="1554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14616" y="20848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AD72"/>
                </a:solidFill>
              </a:rPr>
              <a:t>Approved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14616" y="2395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Agreement sent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108960"/>
            <a:ext cx="402336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108960"/>
            <a:ext cx="402336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182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B04A"/>
                </a:solidFill>
              </a:rPr>
              <a:t>Implementation Spec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92040" y="3182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6A"/>
                </a:solidFill>
              </a:rPr>
              <a:t>Data Model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488" y="34564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04A"/>
                </a:solidFill>
              </a:rPr>
              <a:t>Storage: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417320" y="34564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Supabase PostgreSQL — conversations + messages tables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488" y="370332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04A"/>
                </a:solidFill>
              </a:rPr>
              <a:t>Polling: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417320" y="370332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4-second interval setInterval — no WebSocket needed at MVP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5488" y="39502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04A"/>
                </a:solidFill>
              </a:rPr>
              <a:t>Optimistic UI: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17320" y="395020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Message appears instantly; confirmed/rolled back after API response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" y="41970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04A"/>
                </a:solidFill>
              </a:rPr>
              <a:t>Conversation init: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417320" y="419709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POST /api/messages/conversations — creates or fetches existing conv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5488" y="444398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04A"/>
                </a:solidFill>
              </a:rPr>
              <a:t>Message send: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417320" y="444398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POST /api/messages/conversations/:id/messages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5488" y="46908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04A"/>
                </a:solidFill>
              </a:rPr>
              <a:t>Auto-scroll: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417320" y="469087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Scroll to bottom on new messages if user is at bottom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28032" y="345643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DB: conversations: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053328" y="345643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id · tenant_id · landlord_id · listing_id · last_message · unread_count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28032" y="370332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DB: messages: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053328" y="37033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id · conversation_id · sender_id · content · is_read · created_at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28032" y="39502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Read receipts: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053328" y="39502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✓✓ shown when is_read = true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28032" y="419709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Unread badge: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53328" y="419709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Red dot on conversation list item when unread_count &gt; 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828032" y="44439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Polling stop: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53328" y="444398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clearInterval on navigate away — resumes on return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28032" y="46908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Filter: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053328" y="46908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Client-side search of conversation list by contact name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Module 3 — Verification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5-Layer Trust Verification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The highest trust framework in Nigerian property. Each layer builds on the previous.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69164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691640"/>
            <a:ext cx="15727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0136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" y="24414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Document Upload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" y="2834640"/>
            <a:ext cx="1115568" cy="246888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8346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Basic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17296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Certificate of Occupancy (C of O)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Deed of Assignment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81304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Survey Plan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413308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Governor's Consent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66544" y="169164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66544" y="1691640"/>
            <a:ext cx="157276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6544" y="180136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🪪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066544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30552" y="24414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Identity Match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95144" y="2834640"/>
            <a:ext cx="1115568" cy="246888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95144" y="28346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Verified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39696" y="317296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Full name on 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39696" y="349300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NIN / Passport / Driver's licence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39696" y="381304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ID photo upload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39696" y="413308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Name must match property docs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49040" y="169164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49040" y="1691640"/>
            <a:ext cx="157276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180136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📹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749040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</a:rPr>
              <a:t>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13048" y="24414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Live Video Proof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977640" y="2834640"/>
            <a:ext cx="1115568" cy="246888"/>
          </a:xfrm>
          <a:prstGeom prst="rect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28346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Attested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822192" y="317296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QR code (24hr expiry)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22192" y="349300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Record inside property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22192" y="381304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State name on camera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822192" y="413308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Walk through 2+ rooms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31536" y="169164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31536" y="1691640"/>
            <a:ext cx="1572768" cy="64008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31536" y="180136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431536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E7C6A"/>
                </a:solidFill>
              </a:rPr>
              <a:t>04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95544" y="24414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Physical Inspection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0136" y="2834640"/>
            <a:ext cx="1115568" cy="246888"/>
          </a:xfrm>
          <a:prstGeom prst="rect">
            <a:avLst/>
          </a:prstGeom>
          <a:solidFill>
            <a:srgbClr val="0E7C6A">
              <a:alpha val="10000"/>
            </a:srgbClr>
          </a:solidFill>
          <a:ln w="12700">
            <a:solidFill>
              <a:srgbClr val="0E7C6A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0136" y="28346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6A"/>
                </a:solidFill>
              </a:rPr>
              <a:t>Inspected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04688" y="317296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6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PROPATI agent visits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04688" y="349300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6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Date + time scheduling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504688" y="381304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6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₦15,000 inspection fee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504688" y="413308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6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On-site doc verification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114032" y="1691640"/>
            <a:ext cx="1572768" cy="3246120"/>
          </a:xfrm>
          <a:prstGeom prst="rect">
            <a:avLst/>
          </a:prstGeom>
          <a:solidFill>
            <a:srgbClr val="1A1A1A"/>
          </a:solidFill>
          <a:ln w="12700">
            <a:solidFill>
              <a:srgbClr val="C995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114032" y="1691640"/>
            <a:ext cx="1572768" cy="6400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14032" y="180136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114032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952A"/>
                </a:solidFill>
              </a:rPr>
              <a:t>05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78040" y="24414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Admin Certification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342632" y="2834640"/>
            <a:ext cx="1115568" cy="24688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42632" y="28346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⭐ Certified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187184" y="317296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952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Admin reviews all layers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187184" y="349300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952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Listing gets ⭐ badge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187184" y="381304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952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Highest marketplace trust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187184" y="413308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952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Fast-tracked applications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User Flows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User Journeys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73152" cy="352044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A"/>
                </a:solidFill>
              </a:rPr>
              <a:t>🏠 Landlord Journey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47088"/>
            <a:ext cx="237744" cy="237744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470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Sign up as Landlord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85416"/>
            <a:ext cx="237744" cy="237744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854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1488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Add Listing (photos + details)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23744"/>
            <a:ext cx="237744" cy="237744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237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24871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Upload to Cloudinary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62072"/>
            <a:ext cx="237744" cy="237744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620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28254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Complete 5-layer verification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237744" cy="237744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004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31638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Listing goes live on marketplace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538728"/>
            <a:ext cx="237744" cy="237744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38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35021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Receive tenant applications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877056"/>
            <a:ext cx="237744" cy="237744"/>
          </a:xfrm>
          <a:prstGeom prst="ellipse">
            <a:avLst/>
          </a:prstGeom>
          <a:solidFill>
            <a:srgbClr val="D4622A">
              <a:alpha val="4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77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4360" y="38404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Screening call via Messages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215384"/>
            <a:ext cx="237744" cy="237744"/>
          </a:xfrm>
          <a:prstGeom prst="ellipse">
            <a:avLst/>
          </a:prstGeom>
          <a:solidFill>
            <a:srgbClr val="D4622A">
              <a:alpha val="4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153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" y="417880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Approve tenant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553712"/>
            <a:ext cx="237744" cy="237744"/>
          </a:xfrm>
          <a:prstGeom prst="ellipse">
            <a:avLst/>
          </a:prstGeom>
          <a:solidFill>
            <a:srgbClr val="D4622A">
              <a:alpha val="4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5537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" y="451713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Digital agreement generated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892040"/>
            <a:ext cx="237744" cy="237744"/>
          </a:xfrm>
          <a:prstGeom prst="ellipse">
            <a:avLst/>
          </a:prstGeom>
          <a:solidFill>
            <a:srgbClr val="D4622A">
              <a:alpha val="4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92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4360" y="48554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Collect rent via Escrow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1417320"/>
            <a:ext cx="73152" cy="3520440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A"/>
                </a:solidFill>
              </a:rPr>
              <a:t>👤 Tenant Journey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1847088"/>
            <a:ext cx="237744" cy="237744"/>
          </a:xfrm>
          <a:prstGeom prst="ellipse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18470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83480" y="18105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Sign up as Tenant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2185416"/>
            <a:ext cx="237744" cy="237744"/>
          </a:xfrm>
          <a:prstGeom prst="ellipse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1854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83480" y="21488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Choose purpose (Rent/Buy/Short-let)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2523744"/>
            <a:ext cx="237744" cy="237744"/>
          </a:xfrm>
          <a:prstGeom prst="ellipse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5237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83480" y="248716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Browse verified marketplace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2862072"/>
            <a:ext cx="237744" cy="237744"/>
          </a:xfrm>
          <a:prstGeom prst="ellipse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28620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83480" y="282549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Filter by type, area, price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63440" y="3200400"/>
            <a:ext cx="237744" cy="237744"/>
          </a:xfrm>
          <a:prstGeom prst="ellipse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2004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983480" y="316382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Click Apply &amp; Message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63440" y="3538728"/>
            <a:ext cx="237744" cy="237744"/>
          </a:xfrm>
          <a:prstGeom prst="ellipse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3538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83480" y="35021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Conversation opens with landlord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63440" y="3877056"/>
            <a:ext cx="237744" cy="237744"/>
          </a:xfrm>
          <a:prstGeom prst="ellipse">
            <a:avLst/>
          </a:prstGeom>
          <a:solidFill>
            <a:srgbClr val="0E7C6A">
              <a:alpha val="40000"/>
            </a:srgbClr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3877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983480" y="38404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Attend screening call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63440" y="4215384"/>
            <a:ext cx="237744" cy="237744"/>
          </a:xfrm>
          <a:prstGeom prst="ellipse">
            <a:avLst/>
          </a:prstGeom>
          <a:solidFill>
            <a:srgbClr val="0E7C6A">
              <a:alpha val="40000"/>
            </a:srgbClr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42153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983480" y="41788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Sign digital agreement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663440" y="4553712"/>
            <a:ext cx="237744" cy="237744"/>
          </a:xfrm>
          <a:prstGeom prst="ellipse">
            <a:avLst/>
          </a:prstGeom>
          <a:solidFill>
            <a:srgbClr val="0E7C6A">
              <a:alpha val="40000"/>
            </a:srgbClr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63440" y="45537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983480" y="451713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Pay deposit via Escrow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663440" y="4892040"/>
            <a:ext cx="237744" cy="237744"/>
          </a:xfrm>
          <a:prstGeom prst="ellipse">
            <a:avLst/>
          </a:prstGeom>
          <a:solidFill>
            <a:srgbClr val="0E7C6A">
              <a:alpha val="40000"/>
            </a:srgbClr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0" y="4892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983480" y="48554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Move in 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Technical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Tech Stack &amp; Infrastructure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1993392" cy="54864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A"/>
                </a:solidFill>
              </a:rPr>
              <a:t>Frontend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659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HTML/CSS/JS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Single-file SPA — no build step, deploys to Vercel in &lt; 60s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803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Vanilla JS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1272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State machine with render() function — no React overhead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947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PptxGenJS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0416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Document generation for agreements and reports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14600" y="141732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14600" y="1417320"/>
            <a:ext cx="1993392" cy="54864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5087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622A"/>
                </a:solidFill>
              </a:rPr>
              <a:t>Backend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06040" y="19202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19659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Node.js + Express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22128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REST API on Railway — auto-deploy from GitHub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06040" y="28346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28803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31272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Supabase — managed DB, real-time capable, row-level security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06040" y="37490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37947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Cloudinary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51760" y="40416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Image upload, resize, optimise — all property photos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141732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417320"/>
            <a:ext cx="1993392" cy="54864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5087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Security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19202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9659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JWT Auth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2128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Access token (15min) + Refresh token (7d) rotation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28346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8803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AES-256-GCM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1272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Field-level encryption for sensitive PII (NIN, ID numbers)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37490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7947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Helmet + HPP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40416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HTTP security headers, parameter pollution prevention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12280" y="141732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12280" y="1417320"/>
            <a:ext cx="1993392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15087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Payments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903720" y="19202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19659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Paystack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22128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Nigerian payment gateway — cards, USSD, bank transfer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903720" y="28346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28803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Escrow logic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49440" y="31272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Funds held until landlord confirms move-in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903720" y="37490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37947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Webhooks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49440" y="40416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Real-time payment event callbacks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Build Roadmap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8229600" cy="54864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353312"/>
            <a:ext cx="292608" cy="292608"/>
          </a:xfrm>
          <a:prstGeom prst="ellipse">
            <a:avLst/>
          </a:prstGeom>
          <a:solidFill>
            <a:srgbClr val="2AAD72"/>
          </a:solidFill>
          <a:ln w="12700">
            <a:solidFill>
              <a:srgbClr val="2AAD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5024" y="1645920"/>
            <a:ext cx="0" cy="320040"/>
          </a:xfrm>
          <a:prstGeom prst="line">
            <a:avLst/>
          </a:prstGeom>
          <a:noFill/>
          <a:ln w="19050">
            <a:solidFill>
              <a:srgbClr val="2AAD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1920240" cy="2971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AD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1920240" cy="54864"/>
          </a:xfrm>
          <a:prstGeom prst="rect">
            <a:avLst/>
          </a:prstGeom>
          <a:solidFill>
            <a:srgbClr val="2AAD72"/>
          </a:solidFill>
          <a:ln w="12700">
            <a:solidFill>
              <a:srgbClr val="2AA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2996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AD72"/>
                </a:solidFill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AAD72"/>
                </a:solidFill>
              </a:rPr>
              <a:t>COMPLETE 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53288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Jan–Mar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0352" y="279806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AD72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Auth system (signup/login)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313639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AD72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Property listing + photo upload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347472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AD72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Marketplace with filters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381304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AD72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5-step verification wizard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" y="415137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AD72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Messages (landlord ↔ tenant)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" y="448970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AD72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All 4 role dashboards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46120" y="1353312"/>
            <a:ext cx="292608" cy="29260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92424" y="1645920"/>
            <a:ext cx="0" cy="320040"/>
          </a:xfrm>
          <a:prstGeom prst="line">
            <a:avLst/>
          </a:prstGeom>
          <a:noFill/>
          <a:ln w="19050">
            <a:solidFill>
              <a:srgbClr val="E0B0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1965960"/>
            <a:ext cx="1920240" cy="2971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14600" y="1965960"/>
            <a:ext cx="1920240" cy="54864"/>
          </a:xfrm>
          <a:prstGeom prst="rect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202996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B04A"/>
                </a:solidFill>
              </a:rPr>
              <a:t>Phase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0B04A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87752" y="253288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Mar–Apr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87752" y="279806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Digital lease agreements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87752" y="313639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Admin verification queue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87752" y="347472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Paystack payment integration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87752" y="381304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Email + SMS notifications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87752" y="415137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Tenant application flow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87752" y="448970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Agent commission system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03520" y="1353312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9824" y="1645920"/>
            <a:ext cx="0" cy="32004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1965960"/>
            <a:ext cx="1920240" cy="2971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1965960"/>
            <a:ext cx="19202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02996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Phase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UPCOMING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45152" y="253288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Apr–Jun 2026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45152" y="279806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Mortgage calculator (live rates)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45152" y="313639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Short-let booking + calendar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45152" y="347472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Maintenance request system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45152" y="381304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PROPATI AI (property advice)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45152" y="415137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NIN verification (NIMC API)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45152" y="448970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Mobile-responsive audit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360920" y="1353312"/>
            <a:ext cx="292608" cy="29260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07224" y="1645920"/>
            <a:ext cx="0" cy="3200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29400" y="1965960"/>
            <a:ext cx="1920240" cy="2971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629400" y="1965960"/>
            <a:ext cx="19202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02552" y="202996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Phase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FUTURE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02552" y="253288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Jun+ 2026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02552" y="279806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Native mobile apps (iOS/Android)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02552" y="313639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Advanced analytics dashboard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702552" y="347472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API for third-party agents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702552" y="381304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Title transfer automation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02552" y="415137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International listings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02552" y="448970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IPO readiness metrics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Success Metrics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How We Measure Success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73152" cy="1234440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904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🏘️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Active Listings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8013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6A"/>
                </a:solidFill>
              </a:rPr>
              <a:t>100 listings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within 60 days of launch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41732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417320"/>
            <a:ext cx="73152" cy="123444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14904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Verified Landlords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18013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622A"/>
                </a:solidFill>
              </a:rPr>
              <a:t>20 landlords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with at least 1 certified listing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34640"/>
            <a:ext cx="73152" cy="1234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07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Conversations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32186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</a:rPr>
              <a:t>50 messages/week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tenant → landlord via platform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2834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2834640"/>
            <a:ext cx="73152" cy="123444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2907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First Transaction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32186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52A"/>
                </a:solidFill>
              </a:rPr>
              <a:t>₦1 escrow payment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8640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processed through Paystack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315968"/>
            <a:ext cx="836676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04A"/>
                </a:solidFill>
              </a:rPr>
              <a:t>&lt; 3s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4617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Page load time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50008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04A"/>
                </a:solidFill>
              </a:rPr>
              <a:t>&lt; 24hr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350008" y="4617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Listing review SLA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14216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04A"/>
                </a:solidFill>
              </a:rPr>
              <a:t>&lt; 4s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14216" y="4617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Message poll interval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78424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04A"/>
                </a:solidFill>
              </a:rPr>
              <a:t>99.5%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78424" y="4617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API uptime target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42632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04A"/>
                </a:solidFill>
              </a:rPr>
              <a:t>&lt; ₦8k/mo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42632" y="4617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Infrastructure cost at launch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5486400" cy="5486400"/>
          </a:xfrm>
          <a:prstGeom prst="ellipse">
            <a:avLst/>
          </a:prstGeom>
          <a:solidFill>
            <a:srgbClr val="C9952A">
              <a:alpha val="8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E7C6A">
              <a:alpha val="10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🇳🇬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Nigeria deserves a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property market it can trust.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749040" y="3017520"/>
            <a:ext cx="1645920" cy="4572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PROPATI is being built to fix that — one verified property at a 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3749040"/>
            <a:ext cx="4572000" cy="109728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2A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40965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B04A"/>
                </a:solidFill>
              </a:rPr>
              <a:t>Phase 2: 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Agreements · Payments · Admin queue · Notifications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435254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A"/>
                </a:solidFill>
              </a:rPr>
              <a:t>Launch target: 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First 10 landlords onboarded by April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48006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propati.ng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PROPATI — Product Requirements Document</dc:title>
  <dc:subject>PptxGenJS Presentation</dc:subject>
  <dc:creator>PROPATI Product Team</dc:creator>
  <cp:lastModifiedBy>PROPATI Product Team</cp:lastModifiedBy>
  <cp:revision>1</cp:revision>
  <dcterms:created xsi:type="dcterms:W3CDTF">2026-03-13T04:52:16Z</dcterms:created>
  <dcterms:modified xsi:type="dcterms:W3CDTF">2026-03-13T04:52:16Z</dcterms:modified>
</cp:coreProperties>
</file>